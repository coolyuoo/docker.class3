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89" r:id="rId5"/>
    <p:sldId id="257" r:id="rId6"/>
    <p:sldId id="304" r:id="rId7"/>
    <p:sldId id="258" r:id="rId8"/>
    <p:sldId id="259" r:id="rId9"/>
    <p:sldId id="260" r:id="rId10"/>
    <p:sldId id="261" r:id="rId11"/>
    <p:sldId id="262" r:id="rId12"/>
    <p:sldId id="263" r:id="rId13"/>
    <p:sldId id="339" r:id="rId14"/>
    <p:sldId id="356" r:id="rId15"/>
    <p:sldId id="264" r:id="rId16"/>
    <p:sldId id="344" r:id="rId17"/>
    <p:sldId id="265" r:id="rId18"/>
    <p:sldId id="345" r:id="rId19"/>
    <p:sldId id="266" r:id="rId20"/>
    <p:sldId id="318" r:id="rId21"/>
    <p:sldId id="341" r:id="rId22"/>
    <p:sldId id="319" r:id="rId23"/>
    <p:sldId id="343" r:id="rId24"/>
    <p:sldId id="340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46" r:id="rId36"/>
    <p:sldId id="347" r:id="rId37"/>
    <p:sldId id="348" r:id="rId38"/>
    <p:sldId id="285" r:id="rId39"/>
    <p:sldId id="269" r:id="rId40"/>
    <p:sldId id="288" r:id="rId41"/>
    <p:sldId id="334" r:id="rId42"/>
    <p:sldId id="335" r:id="rId43"/>
    <p:sldId id="336" r:id="rId44"/>
    <p:sldId id="337" r:id="rId45"/>
    <p:sldId id="338" r:id="rId46"/>
    <p:sldId id="349" r:id="rId47"/>
    <p:sldId id="350" r:id="rId48"/>
    <p:sldId id="351" r:id="rId49"/>
    <p:sldId id="352" r:id="rId50"/>
    <p:sldId id="353" r:id="rId51"/>
    <p:sldId id="354" r:id="rId52"/>
    <p:sldId id="355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54410-BCA5-4688-A64B-1030A53A009A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FF56861-E0CC-4444-9DE7-1A105DC76B41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067" y="1401357"/>
            <a:ext cx="7766936" cy="1646302"/>
          </a:xfrm>
        </p:spPr>
        <p:txBody>
          <a:bodyPr/>
          <a:lstStyle/>
          <a:p>
            <a:r>
              <a:rPr dirty="0"/>
              <a:t>單元3.Dockerfile </a:t>
            </a:r>
            <a:r>
              <a:rPr dirty="0" err="1"/>
              <a:t>解析</a:t>
            </a:r>
            <a:endParaRPr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accent2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授課講師</a:t>
            </a:r>
            <a:r>
              <a:rPr lang="en-US" altLang="zh-TW" dirty="0">
                <a:solidFill>
                  <a:schemeClr val="accent2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:Kevin</a:t>
            </a:r>
            <a:endParaRPr lang="zh-TW" altLang="en-US" dirty="0">
              <a:solidFill>
                <a:schemeClr val="accent2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03513" y="437322"/>
            <a:ext cx="1852786" cy="1029340"/>
          </a:xfrm>
        </p:spPr>
        <p:txBody>
          <a:bodyPr/>
          <a:lstStyle/>
          <a:p>
            <a:r>
              <a:rPr lang="zh-TW" altLang="en-US" dirty="0" smtClean="0"/>
              <a:t>目錄</a:t>
            </a:r>
            <a:r>
              <a:rPr lang="en-US" altLang="zh-TW" dirty="0"/>
              <a:t>:</a:t>
            </a:r>
            <a:endParaRPr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37895" y="1932305"/>
            <a:ext cx="4666615" cy="318770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tx1"/>
                </a:solidFill>
              </a:rPr>
              <a:t>Dockerfile</a:t>
            </a:r>
            <a:r>
              <a:rPr lang="zh-TW" altLang="en-US" sz="2800" dirty="0" smtClean="0">
                <a:solidFill>
                  <a:schemeClr val="tx1"/>
                </a:solidFill>
              </a:rPr>
              <a:t>全面解析</a:t>
            </a:r>
            <a:endParaRPr lang="zh-TW" altLang="en-US" sz="28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</a:rPr>
              <a:t>d</a:t>
            </a:r>
            <a:r>
              <a:rPr lang="en-US" sz="2800" dirty="0" err="1" smtClean="0">
                <a:solidFill>
                  <a:schemeClr val="tx1"/>
                </a:solidFill>
              </a:rPr>
              <a:t>ocker</a:t>
            </a:r>
            <a:r>
              <a:rPr lang="en-US" sz="2800" dirty="0" smtClean="0">
                <a:solidFill>
                  <a:schemeClr val="tx1"/>
                </a:solidFill>
              </a:rPr>
              <a:t> build</a:t>
            </a:r>
            <a:r>
              <a:rPr lang="zh-TW" altLang="en-US" sz="2800" dirty="0" smtClean="0">
                <a:solidFill>
                  <a:schemeClr val="tx1"/>
                </a:solidFill>
              </a:rPr>
              <a:t>指令運用</a:t>
            </a:r>
            <a:endParaRPr lang="zh-TW" altLang="en-US" sz="28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sz="2800" dirty="0" err="1" smtClean="0">
                <a:solidFill>
                  <a:schemeClr val="tx1"/>
                </a:solidFill>
              </a:rPr>
              <a:t>docker</a:t>
            </a:r>
            <a:r>
              <a:rPr lang="en-US" altLang="zh-TW" sz="2800" dirty="0" smtClean="0">
                <a:solidFill>
                  <a:schemeClr val="tx1"/>
                </a:solidFill>
              </a:rPr>
              <a:t> login</a:t>
            </a:r>
            <a:r>
              <a:rPr lang="zh-TW" altLang="en-US" sz="2800" dirty="0" smtClean="0">
                <a:solidFill>
                  <a:schemeClr val="tx1"/>
                </a:solidFill>
              </a:rPr>
              <a:t>指令</a:t>
            </a:r>
            <a:r>
              <a:rPr lang="zh-TW" altLang="en-US" sz="2800" dirty="0">
                <a:solidFill>
                  <a:schemeClr val="tx1"/>
                </a:solidFill>
              </a:rPr>
              <a:t>運用</a:t>
            </a:r>
            <a:endParaRPr lang="zh-TW" altLang="en-US" sz="28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sz="2800" dirty="0" err="1">
                <a:solidFill>
                  <a:schemeClr val="tx1"/>
                </a:solidFill>
              </a:rPr>
              <a:t>docker</a:t>
            </a:r>
            <a:r>
              <a:rPr lang="en-US" altLang="zh-TW" sz="2800" dirty="0">
                <a:solidFill>
                  <a:schemeClr val="tx1"/>
                </a:solidFill>
              </a:rPr>
              <a:t> push</a:t>
            </a:r>
            <a:r>
              <a:rPr lang="zh-TW" altLang="en-US" sz="2800" dirty="0" smtClean="0">
                <a:solidFill>
                  <a:schemeClr val="tx1"/>
                </a:solidFill>
              </a:rPr>
              <a:t>指令</a:t>
            </a:r>
            <a:r>
              <a:rPr lang="zh-TW" altLang="en-US" sz="2800" dirty="0">
                <a:solidFill>
                  <a:schemeClr val="tx1"/>
                </a:solidFill>
              </a:rPr>
              <a:t>運用</a:t>
            </a:r>
            <a:endParaRPr lang="zh-TW" altLang="en-US" sz="2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  <a:sym typeface="+mn-ea"/>
              </a:rPr>
              <a:t>docker exec </a:t>
            </a:r>
            <a:r>
              <a:rPr lang="zh-TW" altLang="en-US" sz="2800" dirty="0">
                <a:solidFill>
                  <a:schemeClr val="tx1"/>
                </a:solidFill>
                <a:sym typeface="+mn-ea"/>
              </a:rPr>
              <a:t>指令</a:t>
            </a:r>
            <a:endParaRPr lang="zh-TW" altLang="en-US" sz="2800" dirty="0">
              <a:solidFill>
                <a:schemeClr val="tx1"/>
              </a:solidFill>
              <a:sym typeface="+mn-ea"/>
            </a:endParaRPr>
          </a:p>
          <a:p>
            <a:pPr algn="l"/>
            <a:endParaRPr dirty="0"/>
          </a:p>
        </p:txBody>
      </p:sp>
      <p:sp>
        <p:nvSpPr>
          <p:cNvPr id="4" name="副標題 2"/>
          <p:cNvSpPr>
            <a:spLocks noGrp="1"/>
          </p:cNvSpPr>
          <p:nvPr/>
        </p:nvSpPr>
        <p:spPr>
          <a:xfrm>
            <a:off x="5905500" y="1932305"/>
            <a:ext cx="4728845" cy="31540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chemeClr val="tx1"/>
                </a:solidFill>
                <a:sym typeface="+mn-ea"/>
              </a:rPr>
              <a:t>自製</a:t>
            </a:r>
            <a:r>
              <a:rPr lang="en-US" altLang="zh-TW" sz="2800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TW" altLang="en-US" sz="2800" dirty="0">
                <a:solidFill>
                  <a:schemeClr val="tx1"/>
                </a:solidFill>
                <a:sym typeface="+mn-ea"/>
              </a:rPr>
              <a:t>程式容器與</a:t>
            </a:r>
            <a:r>
              <a:rPr lang="en-US" altLang="zh-TW" sz="2800" dirty="0" err="1">
                <a:solidFill>
                  <a:schemeClr val="tx1"/>
                </a:solidFill>
                <a:sym typeface="+mn-ea"/>
              </a:rPr>
              <a:t>mysql</a:t>
            </a:r>
            <a:r>
              <a:rPr lang="zh-TW" altLang="en-US" sz="2800" dirty="0">
                <a:solidFill>
                  <a:schemeClr val="tx1"/>
                </a:solidFill>
                <a:sym typeface="+mn-ea"/>
              </a:rPr>
              <a:t>容器關聯</a:t>
            </a:r>
            <a:endParaRPr lang="zh-TW" altLang="en-US" sz="28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tx1"/>
                </a:solidFill>
                <a:sym typeface="+mn-ea"/>
              </a:rPr>
              <a:t>Docker </a:t>
            </a:r>
            <a:r>
              <a:rPr sz="2800" dirty="0" err="1">
                <a:solidFill>
                  <a:schemeClr val="tx1"/>
                </a:solidFill>
                <a:sym typeface="+mn-ea"/>
              </a:rPr>
              <a:t>網路的建立與管理</a:t>
            </a:r>
            <a:endParaRPr sz="2800" dirty="0" err="1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800" dirty="0" err="1" smtClean="0">
                <a:solidFill>
                  <a:schemeClr val="tx1"/>
                </a:solidFill>
                <a:sym typeface="+mn-ea"/>
              </a:rPr>
              <a:t>容器之間的通信與數據測試</a:t>
            </a:r>
            <a:endParaRPr lang="en-US" sz="2800" dirty="0" smtClean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</a:rPr>
              <a:t>Docker run </a:t>
            </a:r>
            <a:r>
              <a:rPr lang="en-US" altLang="zh-TW" sz="2800" dirty="0" smtClean="0">
                <a:solidFill>
                  <a:schemeClr val="tx1"/>
                </a:solidFill>
              </a:rPr>
              <a:t>–-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rm</a:t>
            </a:r>
            <a:r>
              <a:rPr lang="zh-TW" altLang="en-US" sz="2800" dirty="0" smtClean="0">
                <a:solidFill>
                  <a:schemeClr val="tx1"/>
                </a:solidFill>
              </a:rPr>
              <a:t> 指令運用</a:t>
            </a:r>
            <a:endParaRPr sz="28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sz="2800" dirty="0" err="1">
                <a:solidFill>
                  <a:schemeClr val="tx1"/>
                </a:solidFill>
                <a:sym typeface="+mn-ea"/>
              </a:rPr>
              <a:t>課程補充</a:t>
            </a:r>
            <a:r>
              <a:rPr lang="en-US" altLang="zh-TW" sz="2800" dirty="0" err="1">
                <a:solidFill>
                  <a:schemeClr val="tx1"/>
                </a:solidFill>
                <a:sym typeface="+mn-ea"/>
              </a:rPr>
              <a:t>:volume</a:t>
            </a:r>
            <a:r>
              <a:rPr lang="zh-TW" altLang="en-US" sz="2800" dirty="0" err="1">
                <a:solidFill>
                  <a:schemeClr val="tx1"/>
                </a:solidFill>
                <a:sym typeface="+mn-ea"/>
              </a:rPr>
              <a:t>詳解</a:t>
            </a:r>
            <a:endParaRPr lang="zh-TW" altLang="en-US" sz="2800" dirty="0" err="1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sz="2800" dirty="0" err="1">
                <a:solidFill>
                  <a:schemeClr val="tx1"/>
                </a:solidFill>
                <a:sym typeface="+mn-ea"/>
              </a:rPr>
              <a:t>課程補充</a:t>
            </a:r>
            <a:r>
              <a:rPr lang="en-US" altLang="zh-TW" sz="2800" dirty="0" err="1">
                <a:solidFill>
                  <a:schemeClr val="tx1"/>
                </a:solidFill>
                <a:sym typeface="+mn-ea"/>
              </a:rPr>
              <a:t>:DevOps</a:t>
            </a:r>
            <a:r>
              <a:rPr lang="zh-TW" altLang="en-US" sz="2800" dirty="0" err="1">
                <a:solidFill>
                  <a:schemeClr val="tx1"/>
                </a:solidFill>
                <a:sym typeface="+mn-ea"/>
              </a:rPr>
              <a:t>介紹</a:t>
            </a:r>
            <a:endParaRPr lang="zh-TW" altLang="en-US" sz="2800" dirty="0" err="1">
              <a:solidFill>
                <a:schemeClr val="tx1"/>
              </a:solidFill>
              <a:sym typeface="+mn-ea"/>
            </a:endParaRPr>
          </a:p>
          <a:p>
            <a:pPr algn="l"/>
            <a:endParaRPr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 smtClean="0"/>
              <a:t>課程導入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b="1" dirty="0" err="1"/>
              <a:t>課程目標</a:t>
            </a:r>
            <a:r>
              <a:rPr dirty="0" smtClean="0"/>
              <a:t>：</a:t>
            </a:r>
            <a:endParaRPr dirty="0"/>
          </a:p>
          <a:p>
            <a:pPr algn="l"/>
            <a:r>
              <a:rPr lang="zh-TW" dirty="0"/>
              <a:t>學會建立自己程式專案的</a:t>
            </a:r>
            <a:r>
              <a:rPr lang="en-US" altLang="zh-TW" dirty="0"/>
              <a:t>Dockerfile</a:t>
            </a:r>
            <a:endParaRPr lang="en-US" altLang="zh-TW" dirty="0"/>
          </a:p>
          <a:p>
            <a:pPr algn="l"/>
            <a:r>
              <a:rPr lang="zh-TW" altLang="en-US" dirty="0"/>
              <a:t>部屬自己的容器到</a:t>
            </a:r>
            <a:r>
              <a:rPr lang="en-US" altLang="zh-TW" dirty="0"/>
              <a:t>docker hub</a:t>
            </a:r>
            <a:r>
              <a:rPr lang="zh-TW" altLang="en-US" dirty="0"/>
              <a:t>給其他人使用</a:t>
            </a:r>
            <a:endParaRPr lang="zh-TW" altLang="en-US" dirty="0"/>
          </a:p>
          <a:p>
            <a:pPr algn="l"/>
            <a:r>
              <a:rPr lang="zh-TW" dirty="0" smtClean="0">
                <a:sym typeface="+mn-ea"/>
              </a:rPr>
              <a:t>查看容器內部檔案配置</a:t>
            </a:r>
            <a:endParaRPr lang="zh-TW" altLang="en-US" dirty="0" smtClean="0">
              <a:sym typeface="+mn-ea"/>
            </a:endParaRPr>
          </a:p>
          <a:p>
            <a:pPr algn="l"/>
            <a:r>
              <a:rPr lang="zh-TW" altLang="en-US" dirty="0" smtClean="0">
                <a:sym typeface="+mn-ea"/>
              </a:rPr>
              <a:t>學習容器與容器之間的網路溝通</a:t>
            </a:r>
            <a:br>
              <a:rPr lang="en-US" altLang="zh-TW" dirty="0"/>
            </a:b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 err="1" smtClean="0"/>
              <a:t>Dockerfile</a:t>
            </a:r>
            <a:r>
              <a:rPr dirty="0" smtClean="0"/>
              <a:t> </a:t>
            </a:r>
            <a:r>
              <a:rPr lang="zh-TW" altLang="en-US" dirty="0" smtClean="0"/>
              <a:t>全面解析</a:t>
            </a:r>
            <a:r>
              <a:rPr lang="en-US" altLang="zh-TW" dirty="0" smtClean="0"/>
              <a:t>(1)</a:t>
            </a:r>
            <a:endParaRPr lang="en-US" altLang="zh-TW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312" y="1636807"/>
            <a:ext cx="9336678" cy="3880773"/>
          </a:xfrm>
        </p:spPr>
        <p:txBody>
          <a:bodyPr/>
          <a:lstStyle/>
          <a:p>
            <a:pPr algn="l"/>
            <a:r>
              <a:rPr dirty="0" err="1"/>
              <a:t>Dockerfile</a:t>
            </a:r>
            <a:r>
              <a:rPr dirty="0"/>
              <a:t> </a:t>
            </a:r>
            <a:r>
              <a:rPr dirty="0" err="1"/>
              <a:t>是一種文本文件，包含一系列指令，用來建立</a:t>
            </a:r>
            <a:r>
              <a:rPr dirty="0"/>
              <a:t> Docker </a:t>
            </a:r>
            <a:r>
              <a:rPr lang="zh-TW" altLang="en-US" dirty="0" smtClean="0"/>
              <a:t>自己的</a:t>
            </a:r>
            <a:r>
              <a:rPr dirty="0" err="1" smtClean="0"/>
              <a:t>映像檔</a:t>
            </a:r>
            <a:r>
              <a:rPr dirty="0" err="1"/>
              <a:t>（image</a:t>
            </a:r>
            <a:r>
              <a:rPr dirty="0"/>
              <a:t>）。</a:t>
            </a:r>
            <a:endParaRPr dirty="0"/>
          </a:p>
          <a:p>
            <a:pPr algn="l"/>
            <a:r>
              <a:rPr dirty="0" err="1"/>
              <a:t>這些指令定義瞭如何構建一個容器環境，確保應用能夠在不同環境中一致運行</a:t>
            </a:r>
            <a:r>
              <a:rPr dirty="0"/>
              <a:t>。</a:t>
            </a:r>
            <a:endParaRPr dirty="0"/>
          </a:p>
          <a:p>
            <a:pPr algn="l"/>
            <a:r>
              <a:rPr dirty="0" err="1"/>
              <a:t>Dockerfile</a:t>
            </a:r>
            <a:r>
              <a:rPr dirty="0"/>
              <a:t> </a:t>
            </a:r>
            <a:r>
              <a:rPr dirty="0" err="1"/>
              <a:t>的預設檔名是</a:t>
            </a:r>
            <a:r>
              <a:rPr dirty="0"/>
              <a:t> "</a:t>
            </a:r>
            <a:r>
              <a:rPr dirty="0" err="1"/>
              <a:t>Dockerfile</a:t>
            </a:r>
            <a:r>
              <a:rPr dirty="0"/>
              <a:t>"，</a:t>
            </a:r>
            <a:r>
              <a:rPr dirty="0" err="1"/>
              <a:t>不需要附加副檔名，這樣可以簡化</a:t>
            </a:r>
            <a:r>
              <a:rPr dirty="0"/>
              <a:t> </a:t>
            </a:r>
            <a:r>
              <a:rPr dirty="0" err="1"/>
              <a:t>docker</a:t>
            </a:r>
            <a:r>
              <a:rPr dirty="0"/>
              <a:t> build </a:t>
            </a:r>
            <a:r>
              <a:rPr dirty="0" err="1"/>
              <a:t>命令的使用</a:t>
            </a:r>
            <a:r>
              <a:rPr dirty="0"/>
              <a:t>。</a:t>
            </a:r>
            <a:endParaRPr dirty="0"/>
          </a:p>
          <a:p>
            <a:pPr algn="l"/>
            <a:r>
              <a:rPr dirty="0" err="1"/>
              <a:t>使用</a:t>
            </a:r>
            <a:r>
              <a:rPr dirty="0"/>
              <a:t> </a:t>
            </a:r>
            <a:r>
              <a:rPr dirty="0" err="1"/>
              <a:t>Dockerfile</a:t>
            </a:r>
            <a:r>
              <a:rPr dirty="0"/>
              <a:t> </a:t>
            </a:r>
            <a:r>
              <a:rPr dirty="0" err="1"/>
              <a:t>的好處在於可以自動化映像檔的建立，減少手動配置的過程，提升效率與一致性</a:t>
            </a:r>
            <a:r>
              <a:rPr dirty="0"/>
              <a:t>。</a:t>
            </a:r>
            <a:endParaRPr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4522" y="4179670"/>
            <a:ext cx="6123809" cy="22095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>
                <a:sym typeface="+mn-ea"/>
              </a:rPr>
              <a:t>Dockerfile</a:t>
            </a:r>
            <a:r>
              <a:rPr dirty="0" smtClean="0">
                <a:sym typeface="+mn-ea"/>
              </a:rPr>
              <a:t> </a:t>
            </a:r>
            <a:r>
              <a:rPr lang="zh-TW" altLang="en-US" dirty="0" smtClean="0">
                <a:sym typeface="+mn-ea"/>
              </a:rPr>
              <a:t>全面解析</a:t>
            </a:r>
            <a:r>
              <a:rPr lang="en-US" altLang="zh-TW" dirty="0" smtClean="0">
                <a:sym typeface="+mn-ea"/>
              </a:rPr>
              <a:t>(2) </a:t>
            </a:r>
            <a:br>
              <a:rPr lang="en-US" altLang="zh-TW" dirty="0" smtClean="0">
                <a:sym typeface="+mn-ea"/>
              </a:rPr>
            </a:br>
            <a:r>
              <a:rPr lang="zh-TW" altLang="en-US" dirty="0" smtClean="0">
                <a:sym typeface="+mn-ea"/>
              </a:rPr>
              <a:t>建立文件</a:t>
            </a:r>
            <a:endParaRPr lang="zh-TW" altLang="en-US" dirty="0" smtClean="0">
              <a:sym typeface="+mn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打開之前建立好的</a:t>
            </a:r>
            <a:r>
              <a:rPr lang="en-US" altLang="zh-TW" dirty="0"/>
              <a:t>python</a:t>
            </a:r>
            <a:r>
              <a:rPr lang="zh-TW" altLang="en-US" dirty="0"/>
              <a:t>檔案</a:t>
            </a:r>
            <a:r>
              <a:rPr lang="zh-TW" altLang="en-US" dirty="0" smtClean="0"/>
              <a:t>資料夾</a:t>
            </a:r>
            <a:r>
              <a:rPr lang="en-US" altLang="zh-TW" dirty="0" smtClean="0"/>
              <a:t>(</a:t>
            </a:r>
            <a:r>
              <a:rPr lang="zh-TW" altLang="en-US" dirty="0" smtClean="0"/>
              <a:t>或是下載</a:t>
            </a:r>
            <a:r>
              <a:rPr lang="en-US" altLang="zh-TW"/>
              <a:t>https://github.com/coolyuoo/TestPyWeb)</a:t>
            </a:r>
            <a:endParaRPr lang="zh-TW" altLang="en-US" dirty="0"/>
          </a:p>
          <a:p>
            <a:r>
              <a:rPr lang="zh-TW" altLang="en-US" dirty="0"/>
              <a:t>右鍵新增純文字文件，建立</a:t>
            </a:r>
            <a:r>
              <a:rPr lang="en-US" altLang="zh-TW" dirty="0" err="1"/>
              <a:t>Dokcerfile</a:t>
            </a:r>
            <a:r>
              <a:rPr lang="en-US" altLang="zh-TW" dirty="0"/>
              <a:t> </a:t>
            </a:r>
            <a:r>
              <a:rPr lang="zh-TW" altLang="en-US" dirty="0"/>
              <a:t>文件</a:t>
            </a:r>
            <a:endParaRPr lang="zh-TW" altLang="en-US" dirty="0"/>
          </a:p>
          <a:p>
            <a:r>
              <a:rPr lang="zh-TW" altLang="en-US" dirty="0"/>
              <a:t>FROM python:3.9-slim</a:t>
            </a:r>
            <a:endParaRPr lang="zh-TW" altLang="en-US" dirty="0"/>
          </a:p>
          <a:p>
            <a:r>
              <a:rPr lang="zh-TW" altLang="en-US" dirty="0"/>
              <a:t>WORKDIR /app</a:t>
            </a:r>
            <a:endParaRPr lang="zh-TW" altLang="en-US" dirty="0"/>
          </a:p>
          <a:p>
            <a:r>
              <a:rPr lang="zh-TW" altLang="en-US" dirty="0">
                <a:sym typeface="+mn-ea"/>
              </a:rPr>
              <a:t>COPY . .</a:t>
            </a:r>
            <a:endParaRPr lang="zh-TW" altLang="en-US" dirty="0"/>
          </a:p>
          <a:p>
            <a:r>
              <a:rPr lang="zh-TW" altLang="en-US" dirty="0"/>
              <a:t>RUN pip install -r requirements.txt</a:t>
            </a:r>
            <a:endParaRPr lang="zh-TW" altLang="en-US" dirty="0"/>
          </a:p>
          <a:p>
            <a:r>
              <a:rPr lang="zh-TW" altLang="en-US" dirty="0"/>
              <a:t>CMD ["python", "app.py"]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>
                <a:sym typeface="+mn-ea"/>
              </a:rPr>
              <a:t>Dockerfile</a:t>
            </a:r>
            <a:r>
              <a:rPr dirty="0" smtClean="0">
                <a:sym typeface="+mn-ea"/>
              </a:rPr>
              <a:t> </a:t>
            </a:r>
            <a:r>
              <a:rPr lang="zh-TW" altLang="en-US" dirty="0" smtClean="0">
                <a:sym typeface="+mn-ea"/>
              </a:rPr>
              <a:t>全面解析</a:t>
            </a:r>
            <a:r>
              <a:rPr lang="en-US" altLang="zh-TW" dirty="0" smtClean="0">
                <a:sym typeface="+mn-ea"/>
              </a:rPr>
              <a:t>(2)</a:t>
            </a:r>
            <a:br>
              <a:rPr lang="en-US" altLang="zh-TW" dirty="0" smtClean="0"/>
            </a:br>
            <a:r>
              <a:rPr sz="2800"/>
              <a:t>Dockerfile 指令概述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最常見的 Dockerfile 指令包括 FROM、RUN、COPY、CMD 和 WORKDIR 等。</a:t>
            </a:r>
          </a:p>
          <a:p>
            <a:pPr algn="l"/>
            <a:r>
              <a:rPr b="1"/>
              <a:t>FROM</a:t>
            </a:r>
            <a:r>
              <a:t>： 指定基礎映像，這是構建新的映像的起點，通常是某個操作系統或應用環境。</a:t>
            </a:r>
          </a:p>
          <a:p>
            <a:pPr algn="l"/>
            <a:r>
              <a:rPr b="1"/>
              <a:t>RUN</a:t>
            </a:r>
            <a:r>
              <a:t>： 在映像構建過程中執行命令，安裝必要的軟體包或進行設置。</a:t>
            </a:r>
          </a:p>
          <a:p>
            <a:pPr algn="l"/>
            <a:r>
              <a:rPr b="1"/>
              <a:t>COPY</a:t>
            </a:r>
            <a:r>
              <a:t>： 將本地檔案或目錄複製到映像中，確保應用所需的資源可用。</a:t>
            </a:r>
          </a:p>
          <a:p>
            <a:pPr algn="l"/>
            <a:r>
              <a:t>這些指令組合起來，形成一個完整的映像建構過程，從而可以在任何支持 Docker 的環境中運行。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>
                <a:sym typeface="+mn-ea"/>
              </a:rPr>
              <a:t>Dockerfile</a:t>
            </a:r>
            <a:r>
              <a:rPr dirty="0" smtClean="0">
                <a:sym typeface="+mn-ea"/>
              </a:rPr>
              <a:t> </a:t>
            </a:r>
            <a:r>
              <a:rPr lang="zh-TW" altLang="en-US" dirty="0" smtClean="0">
                <a:sym typeface="+mn-ea"/>
              </a:rPr>
              <a:t>全面解析</a:t>
            </a:r>
            <a:r>
              <a:rPr lang="en-US" altLang="zh-TW" dirty="0" smtClean="0">
                <a:sym typeface="+mn-ea"/>
              </a:rPr>
              <a:t>(3)</a:t>
            </a:r>
            <a:br>
              <a:rPr lang="en-US" altLang="zh-TW" dirty="0" smtClean="0">
                <a:sym typeface="+mn-ea"/>
              </a:rPr>
            </a:br>
            <a:r>
              <a:rPr sz="2800"/>
              <a:t>Dockerfile 中的 FROM 指令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b="1"/>
              <a:t>FROM</a:t>
            </a:r>
            <a:r>
              <a:t> 指令是 Dockerfile 的第一條指令，必須指定。</a:t>
            </a:r>
          </a:p>
          <a:p>
            <a:pPr algn="l"/>
            <a:r>
              <a:t>這條指令告訴 Docker 從哪個基礎映像構建新的映像，可以指定版本或標籤。</a:t>
            </a:r>
          </a:p>
          <a:p>
            <a:pPr algn="l"/>
            <a:r>
              <a:t>例如，FROM ubuntu：20.04 指定使用 Ubuntu 20.04 作為基礎映像。</a:t>
            </a:r>
          </a:p>
          <a:p>
            <a:pPr algn="l"/>
            <a:r>
              <a:t>可以使用多階段構建，其中多個 FROM 指令可以用於不同的構建階段，這樣可以有效地減少最終映像的大小。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>
                <a:sym typeface="+mn-ea"/>
              </a:rPr>
              <a:t>Dockerfile</a:t>
            </a:r>
            <a:r>
              <a:rPr dirty="0" smtClean="0">
                <a:sym typeface="+mn-ea"/>
              </a:rPr>
              <a:t> </a:t>
            </a:r>
            <a:r>
              <a:rPr lang="zh-TW" altLang="en-US" dirty="0" smtClean="0">
                <a:sym typeface="+mn-ea"/>
              </a:rPr>
              <a:t>全面解析</a:t>
            </a:r>
            <a:r>
              <a:rPr lang="en-US" altLang="zh-TW" dirty="0" smtClean="0">
                <a:sym typeface="+mn-ea"/>
              </a:rPr>
              <a:t>(4)</a:t>
            </a:r>
            <a:br>
              <a:rPr lang="en-US" altLang="zh-TW" dirty="0" smtClean="0">
                <a:sym typeface="+mn-ea"/>
              </a:rPr>
            </a:br>
            <a:r>
              <a:rPr sz="2800"/>
              <a:t>WORKDIR 指令的使用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b="1"/>
              <a:t>WORKDIR</a:t>
            </a:r>
            <a:r>
              <a:t> 指令設定後續指令的工作目錄。</a:t>
            </a:r>
          </a:p>
          <a:p>
            <a:pPr algn="l"/>
            <a:r>
              <a:t>這意味著你可以在 Dockerfile 中使用相對路徑，這樣管理檔案會更加方便。</a:t>
            </a:r>
          </a:p>
          <a:p>
            <a:pPr algn="l"/>
            <a:r>
              <a:t>例如，WORKDIR /app 會在映像內創建一個名為 /app 的目錄，並將其設為當前工作目錄。</a:t>
            </a:r>
          </a:p>
          <a:p>
            <a:pPr algn="l"/>
            <a:r>
              <a:t>使用 WORKDIR 可以幫助保持 Dockerfile 的整潔，並提高可讀性。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>
                <a:sym typeface="+mn-ea"/>
              </a:rPr>
              <a:t>Dockerfile</a:t>
            </a:r>
            <a:r>
              <a:rPr dirty="0" smtClean="0">
                <a:sym typeface="+mn-ea"/>
              </a:rPr>
              <a:t> </a:t>
            </a:r>
            <a:r>
              <a:rPr lang="zh-TW" altLang="en-US" dirty="0" smtClean="0">
                <a:sym typeface="+mn-ea"/>
              </a:rPr>
              <a:t>全面解析</a:t>
            </a:r>
            <a:r>
              <a:rPr lang="en-US" altLang="zh-TW" dirty="0" smtClean="0">
                <a:sym typeface="+mn-ea"/>
              </a:rPr>
              <a:t>(5)</a:t>
            </a:r>
            <a:br>
              <a:rPr lang="en-US" altLang="zh-TW" dirty="0" smtClean="0">
                <a:sym typeface="+mn-ea"/>
              </a:rPr>
            </a:br>
            <a:r>
              <a:rPr sz="2800" dirty="0"/>
              <a:t>RUN </a:t>
            </a:r>
            <a:r>
              <a:rPr sz="2800" dirty="0" err="1"/>
              <a:t>指令的功能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b="1"/>
              <a:t>RUN</a:t>
            </a:r>
            <a:r>
              <a:t> 指令用於執行命令並創建中間層，這些命令通常用來安裝依賴或設定環境。</a:t>
            </a:r>
          </a:p>
          <a:p>
            <a:pPr algn="l"/>
            <a:r>
              <a:t>例如，RUN apt-get update &amp;&amp; apt-get install -y python3 安裝 Python 3 並更新軟體包列表。</a:t>
            </a:r>
          </a:p>
          <a:p>
            <a:pPr algn="l"/>
            <a:r>
              <a:t>RUN 指令可以使用 shell 表現形式或 exec 表現形式，前者使用 shell 解析命令，後者直接執行指定命令。</a:t>
            </a:r>
          </a:p>
          <a:p>
            <a:pPr algn="l"/>
            <a:r>
              <a:t>利用 RUN 指令有效管理和配置映像環境是 Dockerfile 的重要部分。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>
                <a:sym typeface="+mn-ea"/>
              </a:rPr>
              <a:t>Dockerfile</a:t>
            </a:r>
            <a:r>
              <a:rPr dirty="0" smtClean="0">
                <a:sym typeface="+mn-ea"/>
              </a:rPr>
              <a:t> </a:t>
            </a:r>
            <a:r>
              <a:rPr lang="zh-TW" altLang="en-US" dirty="0" smtClean="0">
                <a:sym typeface="+mn-ea"/>
              </a:rPr>
              <a:t>全面解析</a:t>
            </a:r>
            <a:r>
              <a:rPr lang="en-US" altLang="zh-TW" dirty="0" smtClean="0">
                <a:sym typeface="+mn-ea"/>
              </a:rPr>
              <a:t>(6)</a:t>
            </a:r>
            <a:br>
              <a:rPr lang="en-US" altLang="zh-TW" dirty="0" smtClean="0">
                <a:sym typeface="+mn-ea"/>
              </a:rPr>
            </a:br>
            <a:r>
              <a:rPr sz="2800"/>
              <a:t>COPY 和 ADD 指令的比較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b="1" dirty="0"/>
              <a:t>COPY</a:t>
            </a:r>
            <a:r>
              <a:rPr dirty="0"/>
              <a:t> 和 </a:t>
            </a:r>
            <a:r>
              <a:rPr b="1" dirty="0"/>
              <a:t>ADD</a:t>
            </a:r>
            <a:r>
              <a:rPr dirty="0"/>
              <a:t> </a:t>
            </a:r>
            <a:r>
              <a:rPr dirty="0" err="1"/>
              <a:t>都是用於將文件從主機複製到映像中的指令，但功能有所不同</a:t>
            </a:r>
            <a:r>
              <a:rPr dirty="0"/>
              <a:t>。</a:t>
            </a:r>
            <a:endParaRPr dirty="0"/>
          </a:p>
          <a:p>
            <a:pPr algn="l"/>
            <a:r>
              <a:rPr b="1" dirty="0"/>
              <a:t>COPY</a:t>
            </a:r>
            <a:r>
              <a:rPr dirty="0"/>
              <a:t> </a:t>
            </a:r>
            <a:r>
              <a:rPr dirty="0" err="1"/>
              <a:t>只用於簡單的文件複製，而</a:t>
            </a:r>
            <a:r>
              <a:rPr dirty="0"/>
              <a:t> </a:t>
            </a:r>
            <a:r>
              <a:rPr b="1" dirty="0"/>
              <a:t>ADD</a:t>
            </a:r>
            <a:r>
              <a:rPr dirty="0"/>
              <a:t> </a:t>
            </a:r>
            <a:r>
              <a:rPr dirty="0" err="1"/>
              <a:t>則支持從</a:t>
            </a:r>
            <a:r>
              <a:rPr dirty="0"/>
              <a:t> URL </a:t>
            </a:r>
            <a:r>
              <a:rPr dirty="0" err="1"/>
              <a:t>下載文件及自動解壓縮檔案</a:t>
            </a:r>
            <a:r>
              <a:rPr dirty="0"/>
              <a:t>。</a:t>
            </a:r>
            <a:endParaRPr dirty="0"/>
          </a:p>
          <a:p>
            <a:pPr algn="l"/>
            <a:r>
              <a:rPr dirty="0" err="1"/>
              <a:t>在一般情況下，建議使用</a:t>
            </a:r>
            <a:r>
              <a:rPr dirty="0"/>
              <a:t> COPY </a:t>
            </a:r>
            <a:r>
              <a:rPr dirty="0" err="1"/>
              <a:t>除非需要</a:t>
            </a:r>
            <a:r>
              <a:rPr dirty="0"/>
              <a:t> ADD </a:t>
            </a:r>
            <a:r>
              <a:rPr dirty="0" err="1"/>
              <a:t>的附加功能</a:t>
            </a:r>
            <a:r>
              <a:rPr dirty="0"/>
              <a:t>。</a:t>
            </a:r>
            <a:endParaRPr dirty="0"/>
          </a:p>
          <a:p>
            <a:pPr algn="l"/>
            <a:r>
              <a:rPr dirty="0" err="1"/>
              <a:t>例如，COPY</a:t>
            </a:r>
            <a:r>
              <a:rPr dirty="0"/>
              <a:t> ./localfile.txt /app/ </a:t>
            </a:r>
            <a:r>
              <a:rPr dirty="0" err="1"/>
              <a:t>將本地文件複製到容器的相對路徑中</a:t>
            </a:r>
            <a:r>
              <a:rPr dirty="0" smtClean="0"/>
              <a:t>。</a:t>
            </a:r>
            <a:endParaRPr lang="en-US" dirty="0" smtClean="0"/>
          </a:p>
          <a:p>
            <a:pPr algn="l"/>
            <a:r>
              <a:rPr lang="en-US" dirty="0" smtClean="0"/>
              <a:t>ADD</a:t>
            </a:r>
            <a:r>
              <a:rPr lang="zh-TW" altLang="en-US" dirty="0" smtClean="0"/>
              <a:t>到現在都還沒在實務上使用過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>
                <a:sym typeface="+mn-ea"/>
              </a:rPr>
              <a:t>Dockerfile</a:t>
            </a:r>
            <a:r>
              <a:rPr dirty="0" smtClean="0">
                <a:sym typeface="+mn-ea"/>
              </a:rPr>
              <a:t> </a:t>
            </a:r>
            <a:r>
              <a:rPr lang="zh-TW" altLang="en-US" dirty="0" smtClean="0">
                <a:sym typeface="+mn-ea"/>
              </a:rPr>
              <a:t>全面解析</a:t>
            </a:r>
            <a:r>
              <a:rPr lang="en-US" altLang="zh-TW" dirty="0" smtClean="0">
                <a:sym typeface="+mn-ea"/>
              </a:rPr>
              <a:t>(7)</a:t>
            </a:r>
            <a:br>
              <a:rPr lang="en-US" altLang="zh-TW" dirty="0" smtClean="0">
                <a:sym typeface="+mn-ea"/>
              </a:rPr>
            </a:br>
            <a:r>
              <a:rPr sz="2800" dirty="0"/>
              <a:t>CMD </a:t>
            </a:r>
            <a:r>
              <a:rPr sz="2800" dirty="0" err="1"/>
              <a:t>指令的設定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b="1"/>
              <a:t>CMD</a:t>
            </a:r>
            <a:r>
              <a:t> 指令用於指定容器啟動時要執行的預設命令。</a:t>
            </a:r>
          </a:p>
          <a:p>
            <a:pPr algn="l"/>
            <a:r>
              <a:t>只有最後一個 CMD 指令會被執行，這意味著如果有多個 CMD 指令，只有最後一個會生效。</a:t>
            </a:r>
          </a:p>
          <a:p>
            <a:pPr algn="l"/>
            <a:r>
              <a:t>例如，CMD 【"python3"， "app.py"】 指定在容器啟動時執行 Python 應用。</a:t>
            </a:r>
          </a:p>
          <a:p>
            <a:pPr algn="l"/>
            <a:r>
              <a:t>CMD 可以被 docker run 命令中的參數覆蓋，這使得容器運行時的靈活性更高。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ym typeface="+mn-ea"/>
              </a:rPr>
              <a:t>Dockerfile</a:t>
            </a:r>
            <a:r>
              <a:rPr lang="en-US" altLang="zh-TW" dirty="0">
                <a:sym typeface="+mn-ea"/>
              </a:rPr>
              <a:t> </a:t>
            </a:r>
            <a:r>
              <a:rPr lang="zh-TW" altLang="en-US" dirty="0">
                <a:sym typeface="+mn-ea"/>
              </a:rPr>
              <a:t>全面解析</a:t>
            </a:r>
            <a:r>
              <a:rPr lang="en-US" altLang="zh-TW" dirty="0" smtClean="0">
                <a:sym typeface="+mn-ea"/>
              </a:rPr>
              <a:t>(8)</a:t>
            </a:r>
            <a:br>
              <a:rPr lang="en-US" altLang="zh-TW" dirty="0">
                <a:sym typeface="+mn-ea"/>
              </a:rPr>
            </a:br>
            <a:r>
              <a:rPr lang="zh-TW" altLang="en-US" dirty="0" smtClean="0">
                <a:sym typeface="+mn-ea"/>
              </a:rPr>
              <a:t>開店企劃書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把</a:t>
            </a:r>
            <a:r>
              <a:rPr lang="en-US" altLang="zh-TW" dirty="0" err="1" smtClean="0">
                <a:sym typeface="+mn-ea"/>
              </a:rPr>
              <a:t>Dockerfile</a:t>
            </a:r>
            <a:r>
              <a:rPr lang="zh-TW" altLang="en-US" dirty="0" smtClean="0">
                <a:sym typeface="+mn-ea"/>
              </a:rPr>
              <a:t>想像成開店企畫書就會事半功倍</a:t>
            </a:r>
            <a:endParaRPr lang="en-US" altLang="zh-TW" dirty="0" smtClean="0">
              <a:sym typeface="+mn-ea"/>
            </a:endParaRPr>
          </a:p>
          <a:p>
            <a:r>
              <a:rPr lang="zh-TW" altLang="en-US" dirty="0" smtClean="0"/>
              <a:t>如果想開一間會計事務所 你可能會直接蓋一間 所以</a:t>
            </a:r>
            <a:r>
              <a:rPr lang="en-US" altLang="zh-TW" dirty="0" smtClean="0"/>
              <a:t>From</a:t>
            </a:r>
            <a:r>
              <a:rPr lang="zh-TW" altLang="en-US" dirty="0" smtClean="0"/>
              <a:t> 選好商辦大樓</a:t>
            </a:r>
            <a:r>
              <a:rPr lang="en-US" altLang="zh-TW" dirty="0" smtClean="0"/>
              <a:t>(image)</a:t>
            </a:r>
            <a:endParaRPr lang="en-US" altLang="zh-TW" dirty="0" smtClean="0"/>
          </a:p>
          <a:p>
            <a:r>
              <a:rPr lang="zh-TW" altLang="en-US" dirty="0"/>
              <a:t>選</a:t>
            </a:r>
            <a:r>
              <a:rPr lang="zh-TW" altLang="en-US" dirty="0" smtClean="0"/>
              <a:t>好商辦大樓後 要選好辦公室位置 所以</a:t>
            </a:r>
            <a:r>
              <a:rPr lang="en-US" altLang="zh-TW" dirty="0" smtClean="0"/>
              <a:t>WORKDIR</a:t>
            </a:r>
            <a:r>
              <a:rPr lang="zh-TW" altLang="en-US" dirty="0" smtClean="0"/>
              <a:t> 指定好辦公室</a:t>
            </a:r>
            <a:r>
              <a:rPr lang="en-US" altLang="zh-TW" dirty="0" smtClean="0"/>
              <a:t>(</a:t>
            </a:r>
            <a:r>
              <a:rPr lang="zh-TW" altLang="en-US" dirty="0" smtClean="0"/>
              <a:t>資料夾</a:t>
            </a:r>
            <a:r>
              <a:rPr lang="en-US" altLang="zh-TW" dirty="0" smtClean="0"/>
              <a:t>)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zh-TW" altLang="en-US" dirty="0" smtClean="0"/>
              <a:t>假設是</a:t>
            </a:r>
            <a:r>
              <a:rPr lang="en-US" altLang="zh-TW" dirty="0" smtClean="0"/>
              <a:t>WORKDIR /app</a:t>
            </a:r>
            <a:endParaRPr lang="en-US" altLang="zh-TW" dirty="0" smtClean="0"/>
          </a:p>
          <a:p>
            <a:r>
              <a:rPr lang="zh-TW" altLang="en-US" dirty="0"/>
              <a:t>再來</a:t>
            </a:r>
            <a:r>
              <a:rPr lang="zh-TW" altLang="en-US" dirty="0" smtClean="0"/>
              <a:t>就是把設備搬進去辦公室裡面 </a:t>
            </a:r>
            <a:r>
              <a:rPr lang="en-US" altLang="zh-TW" dirty="0" smtClean="0"/>
              <a:t>COPY . .  </a:t>
            </a:r>
            <a:r>
              <a:rPr lang="zh-TW" altLang="en-US" dirty="0" smtClean="0"/>
              <a:t>說明一下 </a:t>
            </a:r>
            <a:r>
              <a:rPr lang="en-US" altLang="zh-TW" dirty="0" smtClean="0"/>
              <a:t>[.]</a:t>
            </a:r>
            <a:r>
              <a:rPr lang="zh-TW" altLang="en-US" dirty="0" smtClean="0"/>
              <a:t>不是句點 是當前位置的意思 所以說第一個</a:t>
            </a:r>
            <a:r>
              <a:rPr lang="en-US" altLang="zh-TW" dirty="0" smtClean="0"/>
              <a:t>. </a:t>
            </a:r>
            <a:r>
              <a:rPr lang="zh-TW" altLang="en-US" dirty="0" smtClean="0"/>
              <a:t>是宿主機的當前資料夾位置 第二個</a:t>
            </a:r>
            <a:r>
              <a:rPr lang="en-US" altLang="zh-TW" dirty="0" smtClean="0"/>
              <a:t>[.]</a:t>
            </a:r>
            <a:r>
              <a:rPr lang="zh-TW" altLang="en-US" dirty="0" smtClean="0"/>
              <a:t>是容器內部資料夾位置，也就是</a:t>
            </a:r>
            <a:r>
              <a:rPr lang="en-US" altLang="zh-TW" dirty="0" smtClean="0"/>
              <a:t>/app</a:t>
            </a:r>
            <a:endParaRPr lang="en-US" altLang="zh-TW" dirty="0" smtClean="0"/>
          </a:p>
          <a:p>
            <a:r>
              <a:rPr lang="zh-TW" altLang="en-US" dirty="0"/>
              <a:t>再來是</a:t>
            </a:r>
            <a:r>
              <a:rPr lang="zh-TW" altLang="en-US" dirty="0" smtClean="0"/>
              <a:t>裝潢，水電油漆網路線之類的，</a:t>
            </a:r>
            <a:r>
              <a:rPr lang="zh-TW" altLang="en-US" dirty="0"/>
              <a:t>RUN pip install -r requirements.txt</a:t>
            </a:r>
            <a:endParaRPr lang="zh-TW" altLang="en-US" dirty="0"/>
          </a:p>
          <a:p>
            <a:pPr marL="0" indent="0">
              <a:buNone/>
            </a:pPr>
            <a:r>
              <a:rPr lang="zh-TW" altLang="en-US" dirty="0" smtClean="0"/>
              <a:t>     安裝</a:t>
            </a:r>
            <a:r>
              <a:rPr lang="en-US" altLang="zh-TW" dirty="0" smtClean="0"/>
              <a:t>pip</a:t>
            </a:r>
            <a:r>
              <a:rPr lang="zh-TW" altLang="en-US" dirty="0" smtClean="0"/>
              <a:t>套件</a:t>
            </a:r>
            <a:endParaRPr lang="en-US" altLang="zh-TW" dirty="0" smtClean="0"/>
          </a:p>
          <a:p>
            <a:r>
              <a:rPr lang="zh-TW" altLang="en-US" dirty="0" smtClean="0"/>
              <a:t>最後開張大吉，</a:t>
            </a:r>
            <a:r>
              <a:rPr lang="en-US" altLang="zh-TW" dirty="0" smtClean="0"/>
              <a:t>CMD[“</a:t>
            </a:r>
            <a:r>
              <a:rPr lang="en-US" altLang="zh-TW" dirty="0" err="1" smtClean="0"/>
              <a:t>python”,”app.py</a:t>
            </a:r>
            <a:r>
              <a:rPr lang="en-US" altLang="zh-TW" dirty="0" smtClean="0"/>
              <a:t>”] </a:t>
            </a:r>
            <a:r>
              <a:rPr lang="zh-TW" altLang="en-US" dirty="0" smtClean="0"/>
              <a:t>告訴程式一切準備就緒 要開門了</a:t>
            </a:r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ym typeface="+mn-ea"/>
              </a:rPr>
              <a:t>Dockerfile</a:t>
            </a:r>
            <a:r>
              <a:rPr lang="en-US" altLang="zh-TW" dirty="0">
                <a:sym typeface="+mn-ea"/>
              </a:rPr>
              <a:t> </a:t>
            </a:r>
            <a:r>
              <a:rPr lang="zh-TW" altLang="en-US" dirty="0">
                <a:sym typeface="+mn-ea"/>
              </a:rPr>
              <a:t>全面解析</a:t>
            </a:r>
            <a:r>
              <a:rPr lang="en-US" altLang="zh-TW" dirty="0" smtClean="0">
                <a:sym typeface="+mn-ea"/>
              </a:rPr>
              <a:t>(9)</a:t>
            </a:r>
            <a:br>
              <a:rPr lang="en-US" altLang="zh-TW" dirty="0">
                <a:sym typeface="+mn-ea"/>
              </a:rPr>
            </a:br>
            <a:r>
              <a:rPr lang="zh-TW" altLang="en-US" dirty="0">
                <a:sym typeface="+mn-ea"/>
              </a:rPr>
              <a:t>特殊指令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EXPOSE </a:t>
            </a:r>
            <a:endParaRPr lang="en-US" altLang="zh-TW" dirty="0" smtClean="0"/>
          </a:p>
          <a:p>
            <a:r>
              <a:rPr lang="en-US" altLang="zh-TW" dirty="0"/>
              <a:t>EXPOSE </a:t>
            </a:r>
            <a:r>
              <a:rPr lang="zh-TW" altLang="en-US" dirty="0"/>
              <a:t>只是「說明這個容器會用哪些 </a:t>
            </a:r>
            <a:r>
              <a:rPr lang="en-US" altLang="zh-TW" dirty="0"/>
              <a:t>port</a:t>
            </a:r>
            <a:r>
              <a:rPr lang="zh-TW" altLang="en-US" dirty="0"/>
              <a:t>」的「備註」而已，</a:t>
            </a:r>
            <a:endParaRPr lang="zh-TW" altLang="en-US" dirty="0"/>
          </a:p>
          <a:p>
            <a:r>
              <a:rPr lang="zh-TW" altLang="en-US" dirty="0"/>
              <a:t>不會真的幫你開 </a:t>
            </a:r>
            <a:r>
              <a:rPr lang="en-US" altLang="zh-TW" dirty="0"/>
              <a:t>port</a:t>
            </a:r>
            <a:r>
              <a:rPr lang="zh-TW" altLang="en-US" dirty="0"/>
              <a:t>、也不會幫你做對外映射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所以不寫也不會怎樣 只是個註解而已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</a:t>
            </a:r>
            <a:r>
              <a:rPr dirty="0" err="1" smtClean="0"/>
              <a:t>ocker</a:t>
            </a:r>
            <a:r>
              <a:rPr dirty="0" smtClean="0"/>
              <a:t> build </a:t>
            </a:r>
            <a:r>
              <a:rPr dirty="0" err="1" smtClean="0"/>
              <a:t>指令</a:t>
            </a:r>
            <a:r>
              <a:rPr lang="zh-TW" altLang="en-US" dirty="0" smtClean="0"/>
              <a:t>運用</a:t>
            </a:r>
            <a:r>
              <a:rPr lang="en-US" altLang="zh-TW" dirty="0" smtClean="0"/>
              <a:t>(1)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 err="1"/>
              <a:t>docker</a:t>
            </a:r>
            <a:r>
              <a:rPr dirty="0"/>
              <a:t> build </a:t>
            </a:r>
            <a:r>
              <a:rPr dirty="0" err="1"/>
              <a:t>是用來根據</a:t>
            </a:r>
            <a:r>
              <a:rPr dirty="0"/>
              <a:t> </a:t>
            </a:r>
            <a:r>
              <a:rPr dirty="0" err="1"/>
              <a:t>Dockerfile</a:t>
            </a:r>
            <a:r>
              <a:rPr dirty="0"/>
              <a:t> </a:t>
            </a:r>
            <a:r>
              <a:rPr dirty="0" err="1"/>
              <a:t>建立映像的命令</a:t>
            </a:r>
            <a:r>
              <a:rPr dirty="0"/>
              <a:t>。</a:t>
            </a:r>
            <a:endParaRPr dirty="0"/>
          </a:p>
          <a:p>
            <a:pPr algn="l"/>
            <a:r>
              <a:rPr dirty="0" err="1"/>
              <a:t>執行此命令時，Docker</a:t>
            </a:r>
            <a:r>
              <a:rPr dirty="0"/>
              <a:t> </a:t>
            </a:r>
            <a:r>
              <a:rPr dirty="0" err="1"/>
              <a:t>引擎會讀取</a:t>
            </a:r>
            <a:r>
              <a:rPr dirty="0"/>
              <a:t> </a:t>
            </a:r>
            <a:r>
              <a:rPr dirty="0" err="1"/>
              <a:t>Dockerfile</a:t>
            </a:r>
            <a:r>
              <a:rPr dirty="0"/>
              <a:t> </a:t>
            </a:r>
            <a:r>
              <a:rPr dirty="0" err="1"/>
              <a:t>中的每一條指令並依序執行</a:t>
            </a:r>
            <a:r>
              <a:rPr dirty="0"/>
              <a:t>。</a:t>
            </a:r>
            <a:endParaRPr dirty="0"/>
          </a:p>
          <a:p>
            <a:pPr algn="l"/>
            <a:r>
              <a:rPr dirty="0" err="1"/>
              <a:t>可以使用</a:t>
            </a:r>
            <a:r>
              <a:rPr dirty="0"/>
              <a:t> -t </a:t>
            </a:r>
            <a:r>
              <a:rPr dirty="0" err="1"/>
              <a:t>參數來為映像指定名稱和標籤，例如</a:t>
            </a:r>
            <a:r>
              <a:rPr dirty="0"/>
              <a:t> </a:t>
            </a:r>
            <a:r>
              <a:rPr dirty="0" err="1"/>
              <a:t>docker</a:t>
            </a:r>
            <a:r>
              <a:rPr dirty="0"/>
              <a:t> build -t </a:t>
            </a:r>
            <a:r>
              <a:rPr dirty="0" err="1"/>
              <a:t>myimage：latest</a:t>
            </a:r>
            <a:r>
              <a:rPr dirty="0"/>
              <a:t> .。</a:t>
            </a:r>
            <a:endParaRPr dirty="0"/>
          </a:p>
          <a:p>
            <a:pPr algn="l"/>
            <a:r>
              <a:rPr dirty="0" err="1"/>
              <a:t>透過</a:t>
            </a:r>
            <a:r>
              <a:rPr dirty="0"/>
              <a:t> </a:t>
            </a:r>
            <a:r>
              <a:rPr dirty="0" err="1"/>
              <a:t>docker</a:t>
            </a:r>
            <a:r>
              <a:rPr dirty="0"/>
              <a:t> build </a:t>
            </a:r>
            <a:r>
              <a:rPr dirty="0" err="1"/>
              <a:t>可以輕鬆管理應用程式的版本和依賴，提升開發效率</a:t>
            </a:r>
            <a:r>
              <a:rPr dirty="0"/>
              <a:t>。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</a:t>
            </a:r>
            <a:r>
              <a:rPr dirty="0" err="1" smtClean="0"/>
              <a:t>ocker</a:t>
            </a:r>
            <a:r>
              <a:rPr dirty="0" smtClean="0"/>
              <a:t> build </a:t>
            </a:r>
            <a:r>
              <a:rPr dirty="0" err="1" smtClean="0"/>
              <a:t>指令</a:t>
            </a:r>
            <a:r>
              <a:rPr lang="zh-TW" altLang="en-US" dirty="0" smtClean="0"/>
              <a:t>運用</a:t>
            </a:r>
            <a:r>
              <a:rPr lang="en-US" altLang="zh-TW" dirty="0" smtClean="0"/>
              <a:t>(2)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在專案資料夾路徑輸入</a:t>
            </a:r>
            <a:r>
              <a:rPr lang="en-US" altLang="zh-TW" dirty="0" err="1" smtClean="0"/>
              <a:t>cmd</a:t>
            </a:r>
            <a:endParaRPr lang="en-US" altLang="zh-TW" dirty="0" smtClean="0"/>
          </a:p>
          <a:p>
            <a:r>
              <a:rPr lang="zh-TW" altLang="en-US" dirty="0" smtClean="0"/>
              <a:t>開啟</a:t>
            </a:r>
            <a:r>
              <a:rPr lang="en-US" altLang="zh-TW" dirty="0" err="1" smtClean="0"/>
              <a:t>cmd</a:t>
            </a:r>
            <a:r>
              <a:rPr lang="zh-TW" altLang="en-US" dirty="0" smtClean="0"/>
              <a:t>之後輸入 </a:t>
            </a:r>
            <a:r>
              <a:rPr lang="en-US" altLang="zh-TW" dirty="0" err="1"/>
              <a:t>docker</a:t>
            </a:r>
            <a:r>
              <a:rPr lang="en-US" altLang="zh-TW" dirty="0"/>
              <a:t> build -t </a:t>
            </a:r>
            <a:r>
              <a:rPr lang="en-US" altLang="zh-TW" dirty="0" err="1"/>
              <a:t>myimage</a:t>
            </a:r>
            <a:r>
              <a:rPr lang="zh-TW" altLang="en-US" dirty="0"/>
              <a:t>：</a:t>
            </a:r>
            <a:r>
              <a:rPr lang="en-US" altLang="zh-TW" dirty="0"/>
              <a:t>latest </a:t>
            </a:r>
            <a:r>
              <a:rPr lang="en-US" altLang="zh-TW" dirty="0" smtClean="0"/>
              <a:t>.</a:t>
            </a:r>
            <a:endParaRPr lang="en-US" altLang="zh-TW" dirty="0" smtClean="0"/>
          </a:p>
          <a:p>
            <a:r>
              <a:rPr lang="zh-TW" altLang="en-US" dirty="0" smtClean="0"/>
              <a:t>注意</a:t>
            </a:r>
            <a:r>
              <a:rPr lang="en-US" altLang="zh-TW" dirty="0" smtClean="0"/>
              <a:t>:  [.]</a:t>
            </a:r>
            <a:r>
              <a:rPr lang="zh-TW" altLang="en-US" dirty="0" smtClean="0"/>
              <a:t> 是指當前目錄位置，不是句點的意思，意思是當前目錄的檔案要包成</a:t>
            </a:r>
            <a:r>
              <a:rPr lang="en-US" altLang="zh-TW" dirty="0"/>
              <a:t>i</a:t>
            </a:r>
            <a:r>
              <a:rPr lang="en-US" altLang="zh-TW" dirty="0" smtClean="0"/>
              <a:t>mage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US" dirty="0" err="1" smtClean="0"/>
              <a:t>d</a:t>
            </a:r>
            <a:r>
              <a:rPr dirty="0" err="1" smtClean="0"/>
              <a:t>ocker</a:t>
            </a:r>
            <a:r>
              <a:rPr dirty="0" smtClean="0"/>
              <a:t> login</a:t>
            </a:r>
            <a:r>
              <a:rPr lang="en-US" dirty="0" smtClean="0"/>
              <a:t> </a:t>
            </a:r>
            <a:r>
              <a:rPr lang="zh-TW" altLang="en-US" dirty="0" smtClean="0"/>
              <a:t>指令</a:t>
            </a:r>
            <a:r>
              <a:rPr lang="zh-TW" altLang="en-US" dirty="0"/>
              <a:t>運用</a:t>
            </a:r>
            <a:br>
              <a:rPr lang="en-US" altLang="zh-TW" dirty="0">
                <a:solidFill>
                  <a:schemeClr val="tx1"/>
                </a:solidFill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在將映像推送到 Docker Hub 或其他容器註冊表之前，需要進行 docker login。</a:t>
            </a:r>
          </a:p>
          <a:p>
            <a:pPr algn="l"/>
            <a:r>
              <a:t>此命令會要求使用者輸入 Docker Hub 的帳號和密碼，完成身份驗證。</a:t>
            </a:r>
          </a:p>
          <a:p>
            <a:pPr algn="l"/>
            <a:r>
              <a:t>登入後，用戶可以上傳和下載映像，方便地管理自己的映像庫。</a:t>
            </a:r>
          </a:p>
          <a:p>
            <a:pPr algn="l"/>
            <a:r>
              <a:t>正確的身份驗證對於維護映像的安全性和可訪問性至關重要。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US" dirty="0" err="1" smtClean="0"/>
              <a:t>d</a:t>
            </a:r>
            <a:r>
              <a:rPr dirty="0" err="1" smtClean="0"/>
              <a:t>ocker</a:t>
            </a:r>
            <a:r>
              <a:rPr dirty="0" smtClean="0"/>
              <a:t> login</a:t>
            </a:r>
            <a:r>
              <a:rPr lang="en-US" dirty="0" smtClean="0"/>
              <a:t> </a:t>
            </a:r>
            <a:r>
              <a:rPr lang="zh-TW" altLang="en-US" dirty="0" smtClean="0"/>
              <a:t>指令運用</a:t>
            </a:r>
            <a:r>
              <a:rPr lang="en-US" altLang="zh-TW" dirty="0" smtClean="0"/>
              <a:t>(2)</a:t>
            </a:r>
            <a:br>
              <a:rPr lang="en-US" altLang="zh-TW" dirty="0">
                <a:solidFill>
                  <a:schemeClr val="tx1"/>
                </a:solidFill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在</a:t>
            </a:r>
            <a:r>
              <a:rPr lang="en-US" altLang="zh-TW" dirty="0" err="1" smtClean="0"/>
              <a:t>cmd</a:t>
            </a:r>
            <a:r>
              <a:rPr lang="zh-TW" altLang="en-US" dirty="0" smtClean="0"/>
              <a:t>輸入</a:t>
            </a:r>
            <a:r>
              <a:rPr lang="en-US" altLang="zh-TW" dirty="0" err="1" smtClean="0"/>
              <a:t>docker</a:t>
            </a:r>
            <a:r>
              <a:rPr lang="en-US" altLang="zh-TW" dirty="0" smtClean="0"/>
              <a:t> login </a:t>
            </a:r>
            <a:r>
              <a:rPr lang="zh-TW" altLang="en-US" dirty="0" smtClean="0"/>
              <a:t>接著出現圖片畫面</a:t>
            </a:r>
            <a:endParaRPr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553" y="2690285"/>
            <a:ext cx="5982653" cy="4476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US" dirty="0" err="1" smtClean="0"/>
              <a:t>d</a:t>
            </a:r>
            <a:r>
              <a:rPr dirty="0" err="1" smtClean="0"/>
              <a:t>ocker</a:t>
            </a:r>
            <a:r>
              <a:rPr dirty="0" smtClean="0"/>
              <a:t> push</a:t>
            </a:r>
            <a:r>
              <a:rPr lang="zh-TW" altLang="en-US" dirty="0"/>
              <a:t>指令運用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docker push 用於將本地的映像上傳到容器註冊表中。</a:t>
            </a:r>
          </a:p>
          <a:p>
            <a:pPr algn="l"/>
            <a:r>
              <a:t>例如，執行 docker push myimage：latest 將本地最新的映像推送到 Docker Hub。</a:t>
            </a:r>
          </a:p>
          <a:p>
            <a:pPr algn="l"/>
            <a:r>
              <a:t>在推送映像之前，必須先使用 docker login 登入相關的註冊表。</a:t>
            </a:r>
          </a:p>
          <a:p>
            <a:pPr algn="l"/>
            <a:r>
              <a:t>透過此指令，可以方便地分享映像，支持團隊協作和部署。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docker</a:t>
            </a:r>
            <a:r>
              <a:rPr dirty="0"/>
              <a:t> exec </a:t>
            </a:r>
            <a:r>
              <a:rPr dirty="0" err="1" smtClean="0"/>
              <a:t>指令的運用</a:t>
            </a:r>
            <a:r>
              <a:rPr lang="en-US" altLang="zh-TW" dirty="0" smtClean="0"/>
              <a:t>(1)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b="1" dirty="0" err="1"/>
              <a:t>指令介紹</a:t>
            </a:r>
            <a:r>
              <a:rPr dirty="0"/>
              <a:t>：</a:t>
            </a:r>
            <a:endParaRPr dirty="0"/>
          </a:p>
          <a:p>
            <a:pPr lvl="1" algn="l"/>
            <a:r>
              <a:rPr dirty="0" err="1"/>
              <a:t>docker</a:t>
            </a:r>
            <a:r>
              <a:rPr dirty="0"/>
              <a:t> exec </a:t>
            </a:r>
            <a:r>
              <a:rPr dirty="0" err="1"/>
              <a:t>是一個非常實用的指令，用於在運行中的</a:t>
            </a:r>
            <a:r>
              <a:rPr dirty="0"/>
              <a:t> Docker </a:t>
            </a:r>
            <a:r>
              <a:rPr dirty="0" err="1"/>
              <a:t>容器內執行命令</a:t>
            </a:r>
            <a:r>
              <a:rPr dirty="0"/>
              <a:t>。</a:t>
            </a:r>
            <a:endParaRPr dirty="0"/>
          </a:p>
          <a:p>
            <a:pPr algn="l"/>
            <a:r>
              <a:rPr b="1" dirty="0" err="1"/>
              <a:t>基本用法</a:t>
            </a:r>
            <a:r>
              <a:rPr dirty="0"/>
              <a:t>：</a:t>
            </a:r>
            <a:endParaRPr dirty="0"/>
          </a:p>
          <a:p>
            <a:pPr lvl="1" algn="l"/>
            <a:r>
              <a:rPr dirty="0" err="1"/>
              <a:t>使用</a:t>
            </a:r>
            <a:r>
              <a:rPr dirty="0"/>
              <a:t> </a:t>
            </a:r>
            <a:r>
              <a:rPr dirty="0" err="1"/>
              <a:t>docker</a:t>
            </a:r>
            <a:r>
              <a:rPr dirty="0"/>
              <a:t> exec -it 《</a:t>
            </a:r>
            <a:r>
              <a:rPr dirty="0" err="1"/>
              <a:t>container_id或container_name</a:t>
            </a:r>
            <a:r>
              <a:rPr dirty="0"/>
              <a:t>》 《command》 </a:t>
            </a:r>
            <a:r>
              <a:rPr dirty="0" err="1"/>
              <a:t>可以進入容器並執行指定的命令，例如使用</a:t>
            </a:r>
            <a:r>
              <a:rPr dirty="0"/>
              <a:t> </a:t>
            </a:r>
            <a:r>
              <a:rPr dirty="0" err="1"/>
              <a:t>sh</a:t>
            </a:r>
            <a:r>
              <a:rPr dirty="0"/>
              <a:t> </a:t>
            </a:r>
            <a:r>
              <a:rPr dirty="0" err="1"/>
              <a:t>進入容器的</a:t>
            </a:r>
            <a:r>
              <a:rPr dirty="0"/>
              <a:t> shell。</a:t>
            </a:r>
            <a:endParaRPr dirty="0"/>
          </a:p>
          <a:p>
            <a:pPr algn="l"/>
            <a:r>
              <a:rPr b="1" dirty="0" err="1"/>
              <a:t>範例操作</a:t>
            </a:r>
            <a:r>
              <a:rPr dirty="0"/>
              <a:t>：</a:t>
            </a:r>
            <a:endParaRPr dirty="0"/>
          </a:p>
          <a:p>
            <a:pPr lvl="1" algn="l"/>
            <a:r>
              <a:rPr dirty="0" err="1"/>
              <a:t>例如，若想查看某個運行中的</a:t>
            </a:r>
            <a:r>
              <a:rPr dirty="0"/>
              <a:t> Python Web </a:t>
            </a:r>
            <a:r>
              <a:rPr dirty="0" err="1"/>
              <a:t>容器內部的狀態，可以執行以下指令</a:t>
            </a:r>
            <a:r>
              <a:rPr dirty="0" smtClean="0"/>
              <a:t>：</a:t>
            </a:r>
            <a:endParaRPr dirty="0"/>
          </a:p>
          <a:p>
            <a:pPr lvl="1" algn="l"/>
            <a:r>
              <a:rPr dirty="0" err="1"/>
              <a:t>進入容器後，可以進行檔案檢查、安裝新套件等操作</a:t>
            </a:r>
            <a:r>
              <a:rPr dirty="0"/>
              <a:t>。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docker</a:t>
            </a:r>
            <a:r>
              <a:rPr dirty="0"/>
              <a:t> exec </a:t>
            </a:r>
            <a:r>
              <a:rPr dirty="0" err="1" smtClean="0"/>
              <a:t>指令的運用</a:t>
            </a:r>
            <a:r>
              <a:rPr lang="en-US" altLang="zh-TW" dirty="0" smtClean="0"/>
              <a:t>(2)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4865"/>
            <a:ext cx="8596668" cy="3880773"/>
          </a:xfrm>
        </p:spPr>
        <p:txBody>
          <a:bodyPr/>
          <a:lstStyle/>
          <a:p>
            <a:r>
              <a:rPr lang="zh-TW" altLang="en-US" dirty="0" smtClean="0"/>
              <a:t>開始操作時間</a:t>
            </a:r>
            <a:endParaRPr lang="en-US" altLang="zh-TW" dirty="0"/>
          </a:p>
          <a:p>
            <a:pPr algn="l"/>
            <a:r>
              <a:rPr lang="zh-TW" altLang="en-US" dirty="0" smtClean="0"/>
              <a:t>繼承上一次的</a:t>
            </a:r>
            <a:r>
              <a:rPr lang="en-US" altLang="zh-TW" dirty="0" err="1" smtClean="0"/>
              <a:t>Dockerfile</a:t>
            </a:r>
            <a:r>
              <a:rPr lang="zh-TW" altLang="en-US" dirty="0" smtClean="0"/>
              <a:t>，進去容器裡面查看自己寫的</a:t>
            </a:r>
            <a:r>
              <a:rPr lang="en-US" altLang="zh-TW" dirty="0" smtClean="0"/>
              <a:t>python</a:t>
            </a:r>
            <a:r>
              <a:rPr lang="zh-TW" altLang="en-US" dirty="0" smtClean="0"/>
              <a:t>是否在裡面</a:t>
            </a:r>
            <a:endParaRPr lang="en-US" altLang="zh-TW" dirty="0" smtClean="0"/>
          </a:p>
          <a:p>
            <a:r>
              <a:rPr lang="zh-TW" altLang="en-US" dirty="0" smtClean="0"/>
              <a:t>輸入 </a:t>
            </a:r>
            <a:r>
              <a:rPr lang="en-US" altLang="zh-TW" dirty="0" smtClean="0"/>
              <a:t>Docker </a:t>
            </a:r>
            <a:r>
              <a:rPr lang="en-US" altLang="zh-TW" dirty="0"/>
              <a:t>exec –it </a:t>
            </a:r>
            <a:r>
              <a:rPr lang="en-US" altLang="zh-TW" dirty="0" err="1" smtClean="0"/>
              <a:t>myapp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sh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zh-TW" dirty="0"/>
          </a:p>
          <a:p>
            <a:pPr algn="l"/>
            <a:endParaRPr dirty="0"/>
          </a:p>
        </p:txBody>
      </p:sp>
      <p:sp>
        <p:nvSpPr>
          <p:cNvPr id="7" name="矩形 6"/>
          <p:cNvSpPr/>
          <p:nvPr/>
        </p:nvSpPr>
        <p:spPr>
          <a:xfrm>
            <a:off x="1065319" y="2735665"/>
            <a:ext cx="684468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1.</a:t>
            </a:r>
            <a:r>
              <a:rPr lang="zh-TW" altLang="en-US" dirty="0" smtClean="0"/>
              <a:t>回</a:t>
            </a:r>
            <a:r>
              <a:rPr lang="zh-TW" altLang="en-US" dirty="0"/>
              <a:t>上一層</a:t>
            </a:r>
            <a:r>
              <a:rPr lang="zh-TW" altLang="en-US" dirty="0" smtClean="0"/>
              <a:t>資料夾</a:t>
            </a:r>
            <a:r>
              <a:rPr lang="en-US" altLang="zh-TW" dirty="0" smtClean="0"/>
              <a:t>:cd </a:t>
            </a:r>
            <a:r>
              <a:rPr lang="en-US" altLang="zh-TW" dirty="0"/>
              <a:t>..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確認 </a:t>
            </a:r>
            <a:r>
              <a:rPr lang="zh-TW" altLang="en-US" dirty="0"/>
              <a:t>app</a:t>
            </a:r>
            <a:r>
              <a:rPr lang="en-US" altLang="zh-TW" dirty="0" smtClean="0"/>
              <a:t> </a:t>
            </a:r>
            <a:r>
              <a:rPr lang="zh-TW" altLang="en-US" dirty="0"/>
              <a:t>資料夾是否存在（這是 </a:t>
            </a:r>
            <a:r>
              <a:rPr lang="en-US" altLang="zh-TW" dirty="0" err="1"/>
              <a:t>Dockerfile</a:t>
            </a:r>
            <a:r>
              <a:rPr lang="en-US" altLang="zh-TW" dirty="0"/>
              <a:t> </a:t>
            </a:r>
            <a:r>
              <a:rPr lang="zh-TW" altLang="en-US" dirty="0"/>
              <a:t>中 </a:t>
            </a:r>
            <a:r>
              <a:rPr lang="en-US" altLang="zh-TW" dirty="0"/>
              <a:t>WORKDIR </a:t>
            </a:r>
            <a:r>
              <a:rPr lang="zh-TW" altLang="en-US" dirty="0"/>
              <a:t>app</a:t>
            </a:r>
            <a:r>
              <a:rPr lang="en-US" altLang="zh-TW" dirty="0" smtClean="0"/>
              <a:t> </a:t>
            </a:r>
            <a:r>
              <a:rPr lang="zh-TW" altLang="en-US" dirty="0"/>
              <a:t>所設定的工作目錄</a:t>
            </a:r>
            <a:r>
              <a:rPr lang="zh-TW" altLang="en-US" dirty="0" smtClean="0"/>
              <a:t>）</a:t>
            </a:r>
            <a:br>
              <a:rPr lang="en-US" altLang="zh-TW" dirty="0" smtClean="0"/>
            </a:br>
            <a:r>
              <a:rPr lang="en-US" altLang="zh-TW" dirty="0" smtClean="0"/>
              <a:t>:ls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/>
              <a:t>3.</a:t>
            </a:r>
            <a:r>
              <a:rPr lang="zh-TW" altLang="en-US" dirty="0" smtClean="0"/>
              <a:t>進入 </a:t>
            </a:r>
            <a:r>
              <a:rPr lang="zh-TW" altLang="en-US" dirty="0"/>
              <a:t>app</a:t>
            </a:r>
            <a:r>
              <a:rPr lang="en-US" altLang="zh-TW" dirty="0" smtClean="0"/>
              <a:t> </a:t>
            </a:r>
            <a:r>
              <a:rPr lang="zh-TW" altLang="en-US" dirty="0" smtClean="0"/>
              <a:t>資料夾</a:t>
            </a:r>
            <a:r>
              <a:rPr lang="en-US" altLang="zh-TW" dirty="0" smtClean="0"/>
              <a:t>:cd </a:t>
            </a:r>
            <a:r>
              <a:rPr lang="zh-TW" altLang="en-US" dirty="0"/>
              <a:t>app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/>
              <a:t>4.</a:t>
            </a:r>
            <a:r>
              <a:rPr lang="zh-TW" altLang="en-US" dirty="0" smtClean="0"/>
              <a:t>列出</a:t>
            </a:r>
            <a:r>
              <a:rPr lang="zh-TW" altLang="en-US" dirty="0"/>
              <a:t>資料夾內容（這些檔案就是透過 </a:t>
            </a:r>
            <a:r>
              <a:rPr lang="en-US" altLang="zh-TW" dirty="0"/>
              <a:t>COPY . . </a:t>
            </a:r>
            <a:r>
              <a:rPr lang="zh-TW" altLang="en-US" dirty="0"/>
              <a:t>指令從本機複製進容器的</a:t>
            </a:r>
            <a:r>
              <a:rPr lang="zh-TW" altLang="en-US" dirty="0" smtClean="0"/>
              <a:t>）</a:t>
            </a:r>
            <a:r>
              <a:rPr lang="en-US" altLang="zh-TW" dirty="0" smtClean="0"/>
              <a:t>:ls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/>
              <a:t>5.</a:t>
            </a:r>
            <a:r>
              <a:rPr lang="zh-TW" altLang="en-US" dirty="0" smtClean="0"/>
              <a:t>查看 </a:t>
            </a:r>
            <a:r>
              <a:rPr lang="en-US" altLang="zh-TW" dirty="0"/>
              <a:t>app.py </a:t>
            </a:r>
            <a:r>
              <a:rPr lang="zh-TW" altLang="en-US" dirty="0"/>
              <a:t>內容（確認程式檔是否在容器內</a:t>
            </a:r>
            <a:r>
              <a:rPr lang="zh-TW" altLang="en-US" dirty="0" smtClean="0"/>
              <a:t>）</a:t>
            </a:r>
            <a:r>
              <a:rPr lang="en-US" altLang="zh-TW" dirty="0" smtClean="0"/>
              <a:t>:cat </a:t>
            </a:r>
            <a:r>
              <a:rPr lang="en-US" altLang="zh-TW" dirty="0"/>
              <a:t>app.py</a:t>
            </a:r>
            <a:endParaRPr lang="en-US" altLang="zh-TW" dirty="0"/>
          </a:p>
          <a:p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docker</a:t>
            </a:r>
            <a:r>
              <a:rPr dirty="0"/>
              <a:t> exec </a:t>
            </a:r>
            <a:r>
              <a:rPr dirty="0" err="1" smtClean="0"/>
              <a:t>指令的運用</a:t>
            </a:r>
            <a:r>
              <a:rPr lang="en-US" altLang="zh-TW" dirty="0" smtClean="0"/>
              <a:t>(3)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4865"/>
            <a:ext cx="8596668" cy="3880773"/>
          </a:xfrm>
        </p:spPr>
        <p:txBody>
          <a:bodyPr/>
          <a:lstStyle/>
          <a:p>
            <a:r>
              <a:rPr lang="zh-TW" altLang="en-US" dirty="0" smtClean="0"/>
              <a:t>開始操作時間</a:t>
            </a:r>
            <a:endParaRPr lang="en-US" altLang="zh-TW" dirty="0"/>
          </a:p>
          <a:p>
            <a:r>
              <a:rPr lang="zh-TW" altLang="en-US" dirty="0" smtClean="0"/>
              <a:t>查看上一次的</a:t>
            </a:r>
            <a:r>
              <a:rPr lang="en-US" altLang="zh-TW" dirty="0" err="1" smtClean="0"/>
              <a:t>nginx</a:t>
            </a:r>
            <a:r>
              <a:rPr lang="zh-TW" altLang="en-US" dirty="0"/>
              <a:t>容器內部，這是上次</a:t>
            </a:r>
            <a:r>
              <a:rPr lang="zh-TW" altLang="en-US" dirty="0" smtClean="0"/>
              <a:t>存放</a:t>
            </a:r>
            <a:r>
              <a:rPr lang="en-US" altLang="zh-TW" dirty="0" smtClean="0"/>
              <a:t>html</a:t>
            </a:r>
            <a:r>
              <a:rPr lang="zh-TW" altLang="en-US" dirty="0" smtClean="0"/>
              <a:t>的資料夾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usr</a:t>
            </a:r>
            <a:r>
              <a:rPr lang="en-US" altLang="zh-TW" dirty="0" smtClean="0"/>
              <a:t>/share/</a:t>
            </a:r>
            <a:r>
              <a:rPr lang="en-US" altLang="zh-TW" dirty="0" err="1" smtClean="0"/>
              <a:t>nginx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html:ro</a:t>
            </a:r>
            <a:endParaRPr lang="en-US" altLang="zh-TW" dirty="0" smtClean="0"/>
          </a:p>
          <a:p>
            <a:pPr algn="l"/>
            <a:r>
              <a:rPr lang="zh-TW" altLang="en-US" dirty="0" smtClean="0"/>
              <a:t>輸入 </a:t>
            </a:r>
            <a:r>
              <a:rPr lang="en-US" altLang="zh-TW" dirty="0" smtClean="0"/>
              <a:t>Docker </a:t>
            </a:r>
            <a:r>
              <a:rPr lang="en-US" altLang="zh-TW" dirty="0"/>
              <a:t>exec –it 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nginxcontainername</a:t>
            </a:r>
            <a:r>
              <a:rPr lang="en-US" altLang="zh-TW" dirty="0" smtClean="0"/>
              <a:t>] </a:t>
            </a:r>
            <a:r>
              <a:rPr lang="en-US" altLang="zh-TW" dirty="0" err="1" smtClean="0"/>
              <a:t>sh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zh-TW" altLang="zh-TW" dirty="0"/>
          </a:p>
          <a:p>
            <a:pPr algn="l"/>
            <a:endParaRPr dirty="0"/>
          </a:p>
        </p:txBody>
      </p:sp>
      <p:sp>
        <p:nvSpPr>
          <p:cNvPr id="7" name="矩形 6"/>
          <p:cNvSpPr/>
          <p:nvPr/>
        </p:nvSpPr>
        <p:spPr>
          <a:xfrm>
            <a:off x="1065319" y="2735665"/>
            <a:ext cx="68446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endParaRPr lang="en-US" altLang="zh-TW" dirty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r>
              <a:rPr lang="en-US" altLang="zh-TW" dirty="0" smtClean="0"/>
              <a:t>cd </a:t>
            </a:r>
            <a:r>
              <a:rPr lang="en-US" altLang="zh-TW" dirty="0" err="1" smtClean="0"/>
              <a:t>usr</a:t>
            </a:r>
            <a:endParaRPr lang="en-US" altLang="zh-TW" dirty="0" smtClean="0"/>
          </a:p>
          <a:p>
            <a:r>
              <a:rPr lang="en-US" altLang="zh-TW" dirty="0" smtClean="0"/>
              <a:t>2. cd share</a:t>
            </a:r>
            <a:endParaRPr lang="en-US" altLang="zh-TW" dirty="0"/>
          </a:p>
          <a:p>
            <a:r>
              <a:rPr lang="en-US" altLang="zh-TW" dirty="0" smtClean="0"/>
              <a:t>3. cd </a:t>
            </a:r>
            <a:r>
              <a:rPr lang="en-US" altLang="zh-TW" dirty="0" err="1" smtClean="0"/>
              <a:t>nginx</a:t>
            </a:r>
            <a:endParaRPr lang="en-US" altLang="zh-TW" dirty="0"/>
          </a:p>
          <a:p>
            <a:r>
              <a:rPr lang="en-US" altLang="zh-TW" dirty="0" smtClean="0"/>
              <a:t>4. </a:t>
            </a:r>
            <a:r>
              <a:rPr lang="en-US" altLang="zh-TW" dirty="0"/>
              <a:t>c</a:t>
            </a:r>
            <a:r>
              <a:rPr lang="en-US" altLang="zh-TW" dirty="0" smtClean="0"/>
              <a:t>d html</a:t>
            </a:r>
            <a:endParaRPr lang="en-US" altLang="zh-TW" dirty="0" smtClean="0"/>
          </a:p>
          <a:p>
            <a:r>
              <a:rPr lang="en-US" altLang="zh-TW" dirty="0" smtClean="0"/>
              <a:t>5. ls  </a:t>
            </a:r>
            <a:r>
              <a:rPr lang="zh-TW" altLang="en-US" dirty="0" smtClean="0"/>
              <a:t>看到</a:t>
            </a:r>
            <a:r>
              <a:rPr lang="en-US" altLang="zh-TW" dirty="0" smtClean="0"/>
              <a:t>index.html</a:t>
            </a:r>
            <a:r>
              <a:rPr lang="zh-TW" altLang="en-US" dirty="0" smtClean="0"/>
              <a:t> 這就是上次我們放進宿主主機的檔案</a:t>
            </a:r>
            <a:endParaRPr lang="en-US" altLang="zh-TW" dirty="0" smtClean="0"/>
          </a:p>
          <a:p>
            <a:r>
              <a:rPr lang="en-US" altLang="zh-TW" dirty="0" smtClean="0"/>
              <a:t>6.</a:t>
            </a:r>
            <a:r>
              <a:rPr lang="zh-TW" altLang="en-US" dirty="0" smtClean="0"/>
              <a:t> </a:t>
            </a:r>
            <a:r>
              <a:rPr lang="en-US" altLang="zh-TW" dirty="0"/>
              <a:t>c</a:t>
            </a:r>
            <a:r>
              <a:rPr lang="en-US" altLang="zh-TW" dirty="0" smtClean="0"/>
              <a:t>at index.html</a:t>
            </a:r>
            <a:r>
              <a:rPr lang="zh-TW" altLang="en-US" dirty="0" smtClean="0"/>
              <a:t> 確定是我們丟的那隻檔案</a:t>
            </a:r>
            <a:endParaRPr lang="en-US" altLang="zh-TW" dirty="0"/>
          </a:p>
          <a:p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0722"/>
            <a:ext cx="8596668" cy="1320800"/>
          </a:xfrm>
        </p:spPr>
        <p:txBody>
          <a:bodyPr/>
          <a:lstStyle/>
          <a:p>
            <a:r>
              <a:rPr dirty="0"/>
              <a:t> </a:t>
            </a:r>
            <a:r>
              <a:rPr dirty="0" err="1"/>
              <a:t>docker</a:t>
            </a:r>
            <a:r>
              <a:rPr dirty="0"/>
              <a:t> exec </a:t>
            </a:r>
            <a:r>
              <a:rPr dirty="0" err="1" smtClean="0"/>
              <a:t>指令的運用</a:t>
            </a:r>
            <a:r>
              <a:rPr lang="en-US" altLang="zh-TW" dirty="0" smtClean="0"/>
              <a:t>(4)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4865"/>
            <a:ext cx="8596668" cy="3880773"/>
          </a:xfrm>
        </p:spPr>
        <p:txBody>
          <a:bodyPr/>
          <a:lstStyle/>
          <a:p>
            <a:r>
              <a:rPr lang="zh-TW" altLang="en-US" dirty="0" smtClean="0"/>
              <a:t>開始操作時間</a:t>
            </a:r>
            <a:endParaRPr lang="en-US" altLang="zh-TW" dirty="0"/>
          </a:p>
          <a:p>
            <a:r>
              <a:rPr lang="zh-TW" altLang="en-US" dirty="0" smtClean="0"/>
              <a:t>查看上一次的</a:t>
            </a:r>
            <a:r>
              <a:rPr lang="en-US" altLang="zh-TW" dirty="0" err="1" smtClean="0"/>
              <a:t>mysql</a:t>
            </a:r>
            <a:r>
              <a:rPr lang="zh-TW" altLang="en-US" dirty="0" smtClean="0"/>
              <a:t>容器</a:t>
            </a:r>
            <a:r>
              <a:rPr lang="zh-TW" altLang="en-US" dirty="0"/>
              <a:t>內部，這是上次</a:t>
            </a:r>
            <a:r>
              <a:rPr lang="zh-TW" altLang="en-US" dirty="0" smtClean="0"/>
              <a:t>存放</a:t>
            </a:r>
            <a:r>
              <a:rPr lang="en-US" altLang="zh-TW" dirty="0" smtClean="0"/>
              <a:t>html</a:t>
            </a:r>
            <a:r>
              <a:rPr lang="zh-TW" altLang="en-US" dirty="0" smtClean="0"/>
              <a:t>的資料夾</a:t>
            </a:r>
            <a:r>
              <a:rPr lang="en-US" altLang="zh-TW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/</a:t>
            </a:r>
            <a:r>
              <a:rPr lang="en-US" altLang="zh-TW" dirty="0" err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var</a:t>
            </a:r>
            <a:r>
              <a:rPr lang="en-US" altLang="zh-TW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/lib/</a:t>
            </a:r>
            <a:r>
              <a:rPr lang="en-US" altLang="zh-TW" dirty="0" err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mysql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algn="l"/>
            <a:r>
              <a:rPr lang="zh-TW" altLang="en-US" dirty="0" smtClean="0"/>
              <a:t>輸入 </a:t>
            </a:r>
            <a:r>
              <a:rPr lang="en-US" altLang="zh-TW" dirty="0" smtClean="0"/>
              <a:t>Docker </a:t>
            </a:r>
            <a:r>
              <a:rPr lang="en-US" altLang="zh-TW" dirty="0"/>
              <a:t>exec –it 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mysqlcontainername</a:t>
            </a:r>
            <a:r>
              <a:rPr lang="en-US" altLang="zh-TW" dirty="0" smtClean="0"/>
              <a:t>] </a:t>
            </a:r>
            <a:r>
              <a:rPr lang="en-US" altLang="zh-TW" dirty="0" err="1" smtClean="0"/>
              <a:t>sh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zh-TW" altLang="zh-TW" dirty="0"/>
          </a:p>
          <a:p>
            <a:pPr algn="l"/>
            <a:endParaRPr dirty="0"/>
          </a:p>
        </p:txBody>
      </p:sp>
      <p:sp>
        <p:nvSpPr>
          <p:cNvPr id="7" name="矩形 6"/>
          <p:cNvSpPr/>
          <p:nvPr/>
        </p:nvSpPr>
        <p:spPr>
          <a:xfrm>
            <a:off x="1065319" y="2735665"/>
            <a:ext cx="68446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endParaRPr lang="en-US" altLang="zh-TW" dirty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r>
              <a:rPr lang="en-US" altLang="zh-TW" dirty="0" smtClean="0"/>
              <a:t>cd </a:t>
            </a:r>
            <a:r>
              <a:rPr lang="en-US" altLang="zh-TW" dirty="0" err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var</a:t>
            </a:r>
            <a:endParaRPr lang="en-US" altLang="zh-TW" dirty="0" smtClean="0"/>
          </a:p>
          <a:p>
            <a:r>
              <a:rPr lang="en-US" altLang="zh-TW" dirty="0" smtClean="0"/>
              <a:t>2. cd </a:t>
            </a:r>
            <a:r>
              <a:rPr lang="en-US" altLang="zh-TW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lib</a:t>
            </a:r>
            <a:endParaRPr lang="en-US" altLang="zh-TW" dirty="0"/>
          </a:p>
          <a:p>
            <a:r>
              <a:rPr lang="en-US" altLang="zh-TW" dirty="0" smtClean="0"/>
              <a:t>3. cd </a:t>
            </a:r>
            <a:r>
              <a:rPr lang="en-US" altLang="zh-TW" dirty="0" err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mysql</a:t>
            </a:r>
            <a:endParaRPr lang="en-US" altLang="zh-TW" dirty="0"/>
          </a:p>
          <a:p>
            <a:r>
              <a:rPr lang="en-US" altLang="zh-TW" dirty="0" smtClean="0"/>
              <a:t>4. ls  </a:t>
            </a:r>
            <a:r>
              <a:rPr lang="zh-TW" altLang="en-US" dirty="0" smtClean="0"/>
              <a:t>看到</a:t>
            </a:r>
            <a:r>
              <a:rPr lang="zh-TW" altLang="en-US" dirty="0"/>
              <a:t>這些檔案就是對應到宿主機該資料夾的所有</a:t>
            </a:r>
            <a:r>
              <a:rPr lang="zh-TW" altLang="en-US" dirty="0" smtClean="0"/>
              <a:t>檔案，至此確認成功</a:t>
            </a:r>
            <a:endParaRPr lang="en-US" altLang="zh-TW" dirty="0" smtClean="0"/>
          </a:p>
          <a:p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休息一下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學員提問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自製 Python Web 容器與 MySQL容器關聯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b="1" dirty="0" err="1"/>
              <a:t>連結概念</a:t>
            </a:r>
            <a:r>
              <a:rPr dirty="0"/>
              <a:t>：</a:t>
            </a:r>
            <a:endParaRPr dirty="0"/>
          </a:p>
          <a:p>
            <a:pPr lvl="1" algn="l"/>
            <a:r>
              <a:rPr dirty="0"/>
              <a:t>在 Docker </a:t>
            </a:r>
            <a:r>
              <a:rPr dirty="0" err="1"/>
              <a:t>中，容器之間的連結是建構複雜應用的基礎。本單元將介紹如何將</a:t>
            </a:r>
            <a:r>
              <a:rPr dirty="0"/>
              <a:t> Python Web </a:t>
            </a:r>
            <a:r>
              <a:rPr dirty="0" err="1"/>
              <a:t>容器與</a:t>
            </a:r>
            <a:r>
              <a:rPr dirty="0"/>
              <a:t> MySQL </a:t>
            </a:r>
            <a:r>
              <a:rPr dirty="0" err="1"/>
              <a:t>容器進行連結</a:t>
            </a:r>
            <a:r>
              <a:rPr dirty="0"/>
              <a:t>。</a:t>
            </a:r>
            <a:endParaRPr dirty="0"/>
          </a:p>
          <a:p>
            <a:pPr marL="0" indent="0" algn="l">
              <a:buNone/>
            </a:pPr>
            <a:endParaRPr dirty="0"/>
          </a:p>
          <a:p>
            <a:pPr algn="l"/>
            <a:r>
              <a:rPr b="1" dirty="0" err="1"/>
              <a:t>網路建設</a:t>
            </a:r>
            <a:r>
              <a:rPr dirty="0"/>
              <a:t>：</a:t>
            </a:r>
            <a:endParaRPr dirty="0"/>
          </a:p>
          <a:p>
            <a:pPr lvl="1" algn="l"/>
            <a:r>
              <a:rPr dirty="0" err="1"/>
              <a:t>最後，利用</a:t>
            </a:r>
            <a:r>
              <a:rPr dirty="0"/>
              <a:t> Docker </a:t>
            </a:r>
            <a:r>
              <a:rPr dirty="0" err="1"/>
              <a:t>網路功能，確保這兩個容器能在同一網路中互相通信，實現數據的讀取與寫入</a:t>
            </a:r>
            <a:r>
              <a:rPr dirty="0"/>
              <a:t>。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9398000" cy="1320800"/>
          </a:xfrm>
        </p:spPr>
        <p:txBody>
          <a:bodyPr/>
          <a:lstStyle/>
          <a:p>
            <a:r>
              <a:rPr dirty="0" err="1"/>
              <a:t>自製</a:t>
            </a:r>
            <a:r>
              <a:rPr dirty="0"/>
              <a:t> Python Web </a:t>
            </a:r>
            <a:r>
              <a:rPr dirty="0" err="1"/>
              <a:t>容器與</a:t>
            </a:r>
            <a:r>
              <a:rPr dirty="0"/>
              <a:t> </a:t>
            </a:r>
            <a:r>
              <a:rPr dirty="0" err="1"/>
              <a:t>MySQL容器關聯</a:t>
            </a:r>
            <a:r>
              <a:rPr lang="en-US" dirty="0"/>
              <a:t>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1584960"/>
            <a:ext cx="8596630" cy="4750435"/>
          </a:xfrm>
        </p:spPr>
        <p:txBody>
          <a:bodyPr>
            <a:normAutofit lnSpcReduction="20000"/>
          </a:bodyPr>
          <a:lstStyle/>
          <a:p>
            <a:pPr algn="l"/>
            <a:r>
              <a:rPr sz="1800" b="1" dirty="0" err="1">
                <a:sym typeface="+mn-ea"/>
              </a:rPr>
              <a:t>步驟概述</a:t>
            </a:r>
            <a:r>
              <a:rPr sz="1800" dirty="0">
                <a:sym typeface="+mn-ea"/>
              </a:rPr>
              <a:t>：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sz="1800" dirty="0">
                <a:sym typeface="+mn-ea"/>
              </a:rPr>
              <a:t>步驟1: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sz="1800" dirty="0">
                <a:sym typeface="+mn-ea"/>
              </a:rPr>
              <a:t>     </a:t>
            </a:r>
            <a:r>
              <a:rPr lang="zh-TW" altLang="en-US" sz="1800" dirty="0" smtClean="0">
                <a:sym typeface="+mn-ea"/>
              </a:rPr>
              <a:t>先啟動上次課程的</a:t>
            </a:r>
            <a:r>
              <a:rPr lang="en-US" altLang="zh-TW" sz="1800" dirty="0" err="1" smtClean="0">
                <a:sym typeface="+mn-ea"/>
              </a:rPr>
              <a:t>mysql</a:t>
            </a:r>
            <a:r>
              <a:rPr lang="zh-TW" altLang="en-US" sz="1800" dirty="0" smtClean="0">
                <a:sym typeface="+mn-ea"/>
              </a:rPr>
              <a:t>容器，接著</a:t>
            </a:r>
            <a:r>
              <a:rPr sz="1800" dirty="0" err="1" smtClean="0">
                <a:sym typeface="+mn-ea"/>
              </a:rPr>
              <a:t>製作一個抓取</a:t>
            </a:r>
            <a:r>
              <a:rPr sz="1800" dirty="0" err="1">
                <a:sym typeface="+mn-ea"/>
              </a:rPr>
              <a:t>mysql的</a:t>
            </a:r>
            <a:r>
              <a:rPr sz="1800" dirty="0" err="1" smtClean="0">
                <a:sym typeface="+mn-ea"/>
              </a:rPr>
              <a:t>python</a:t>
            </a:r>
            <a:endParaRPr lang="en-US" sz="1800" dirty="0" smtClean="0">
              <a:sym typeface="+mn-ea"/>
            </a:endParaRPr>
          </a:p>
          <a:p>
            <a:pPr marL="0" indent="0" algn="l">
              <a:buNone/>
            </a:pPr>
            <a:r>
              <a:rPr lang="zh-TW" altLang="en-US" dirty="0">
                <a:sym typeface="+mn-ea"/>
              </a:rPr>
              <a:t> </a:t>
            </a:r>
            <a:r>
              <a:rPr lang="zh-TW" altLang="en-US" dirty="0" smtClean="0">
                <a:sym typeface="+mn-ea"/>
              </a:rPr>
              <a:t>  </a:t>
            </a:r>
            <a:r>
              <a:rPr sz="1800" dirty="0" smtClean="0">
                <a:sym typeface="+mn-ea"/>
              </a:rPr>
              <a:t> </a:t>
            </a:r>
            <a:r>
              <a:rPr sz="1800" dirty="0">
                <a:sym typeface="+mn-ea"/>
              </a:rPr>
              <a:t>(</a:t>
            </a:r>
            <a:r>
              <a:rPr sz="1800" dirty="0" err="1" smtClean="0">
                <a:sym typeface="+mn-ea"/>
              </a:rPr>
              <a:t>應該開課期間有</a:t>
            </a:r>
            <a:r>
              <a:rPr lang="zh-TW" altLang="en-US" sz="1800" dirty="0" smtClean="0">
                <a:sym typeface="+mn-ea"/>
              </a:rPr>
              <a:t>教，</a:t>
            </a:r>
            <a:r>
              <a:rPr sz="1800" dirty="0" err="1" smtClean="0">
                <a:sym typeface="+mn-ea"/>
              </a:rPr>
              <a:t>重新複習</a:t>
            </a:r>
            <a:r>
              <a:rPr sz="1800" dirty="0">
                <a:sym typeface="+mn-ea"/>
              </a:rPr>
              <a:t>)</a:t>
            </a:r>
            <a:endParaRPr sz="1800" dirty="0">
              <a:sym typeface="+mn-ea"/>
            </a:endParaRPr>
          </a:p>
          <a:p>
            <a:pPr marL="0" indent="457200" algn="l">
              <a:buNone/>
            </a:pPr>
            <a:r>
              <a:rPr lang="en-US" altLang="zh-HK" sz="1800" dirty="0">
                <a:sym typeface="+mn-ea"/>
              </a:rPr>
              <a:t>https://github.com/coolyuoo/PyWithMySql</a:t>
            </a:r>
            <a:endParaRPr lang="en-US" altLang="zh-HK" sz="1800" dirty="0">
              <a:sym typeface="+mn-ea"/>
            </a:endParaRPr>
          </a:p>
          <a:p>
            <a:pPr marL="0" indent="0" algn="l">
              <a:buNone/>
            </a:pPr>
            <a:r>
              <a:rPr sz="1800" dirty="0">
                <a:sym typeface="+mn-ea"/>
              </a:rPr>
              <a:t>    </a:t>
            </a:r>
            <a:r>
              <a:rPr sz="1800" dirty="0" err="1">
                <a:sym typeface="+mn-ea"/>
              </a:rPr>
              <a:t>確認抓取</a:t>
            </a:r>
            <a:r>
              <a:rPr lang="zh-TW" sz="1800" dirty="0">
                <a:sym typeface="+mn-ea"/>
              </a:rPr>
              <a:t>資料</a:t>
            </a:r>
            <a:r>
              <a:rPr sz="1800" dirty="0" err="1">
                <a:sym typeface="+mn-ea"/>
              </a:rPr>
              <a:t>成功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dirty="0"/>
              <a:t>步驟2:</a:t>
            </a:r>
            <a:endParaRPr dirty="0"/>
          </a:p>
          <a:p>
            <a:pPr marL="0" indent="0" algn="l">
              <a:buNone/>
            </a:pPr>
            <a:r>
              <a:rPr dirty="0"/>
              <a:t>     </a:t>
            </a:r>
            <a:r>
              <a:rPr dirty="0" err="1"/>
              <a:t>把該python包成image</a:t>
            </a:r>
            <a:r>
              <a:rPr dirty="0"/>
              <a:t> </a:t>
            </a:r>
            <a:r>
              <a:rPr dirty="0" err="1"/>
              <a:t>轉換成容器</a:t>
            </a:r>
            <a:endParaRPr dirty="0"/>
          </a:p>
          <a:p>
            <a:pPr marL="0" indent="0" algn="l">
              <a:buNone/>
            </a:pPr>
            <a:r>
              <a:rPr dirty="0"/>
              <a:t>     </a:t>
            </a:r>
            <a:r>
              <a:rPr dirty="0" err="1" smtClean="0"/>
              <a:t>在測試一下是否能抓取成功</a:t>
            </a:r>
            <a:r>
              <a:rPr lang="en-US" dirty="0" err="1" smtClean="0"/>
              <a:t>mysql</a:t>
            </a:r>
            <a:r>
              <a:rPr lang="zh-TW" altLang="en-US" dirty="0" smtClean="0"/>
              <a:t>資料</a:t>
            </a:r>
            <a:endParaRPr lang="en-US" dirty="0"/>
          </a:p>
          <a:p>
            <a:pPr marL="0" indent="0" algn="l">
              <a:buNone/>
            </a:pPr>
            <a:r>
              <a:rPr lang="en-US" dirty="0"/>
              <a:t>步驟3</a:t>
            </a:r>
            <a:endParaRPr lang="en-US" dirty="0"/>
          </a:p>
          <a:p>
            <a:pPr marL="0" indent="0" algn="l">
              <a:buNone/>
            </a:pPr>
            <a:r>
              <a:rPr lang="en-US" dirty="0"/>
              <a:t>	</a:t>
            </a:r>
            <a:r>
              <a:rPr lang="en-US" dirty="0" err="1"/>
              <a:t>docker</a:t>
            </a:r>
            <a:r>
              <a:rPr lang="en-US" dirty="0"/>
              <a:t> exec </a:t>
            </a:r>
            <a:r>
              <a:rPr lang="en-US" dirty="0" err="1"/>
              <a:t>進入</a:t>
            </a:r>
            <a:r>
              <a:rPr lang="en-US" dirty="0"/>
              <a:t> </a:t>
            </a:r>
            <a:r>
              <a:rPr lang="en-US" dirty="0" err="1"/>
              <a:t>python容器</a:t>
            </a:r>
            <a:r>
              <a:rPr lang="en-US" dirty="0"/>
              <a:t> </a:t>
            </a:r>
            <a:r>
              <a:rPr lang="en-US" dirty="0" err="1"/>
              <a:t>安裝</a:t>
            </a:r>
            <a:r>
              <a:rPr lang="en-US" dirty="0"/>
              <a:t> </a:t>
            </a:r>
            <a:endParaRPr lang="en-US" dirty="0"/>
          </a:p>
          <a:p>
            <a:pPr marL="0" indent="0" algn="l">
              <a:buNone/>
            </a:pPr>
            <a:r>
              <a:rPr lang="en-US" dirty="0"/>
              <a:t>	</a:t>
            </a:r>
            <a:r>
              <a:rPr lang="en-US" dirty="0" err="1"/>
              <a:t>sudo</a:t>
            </a:r>
            <a:r>
              <a:rPr lang="en-US" dirty="0"/>
              <a:t> apt update</a:t>
            </a:r>
            <a:endParaRPr lang="en-US" dirty="0"/>
          </a:p>
          <a:p>
            <a:pPr marL="0" indent="0" algn="l">
              <a:buNone/>
            </a:pPr>
            <a:r>
              <a:rPr lang="en-US" dirty="0"/>
              <a:t>	</a:t>
            </a:r>
            <a:r>
              <a:rPr lang="en-US" dirty="0" err="1"/>
              <a:t>sudo</a:t>
            </a:r>
            <a:r>
              <a:rPr lang="en-US" dirty="0"/>
              <a:t> apt install -y </a:t>
            </a:r>
            <a:r>
              <a:rPr lang="en-US" dirty="0" err="1"/>
              <a:t>iputils</a:t>
            </a:r>
            <a:r>
              <a:rPr lang="en-US" dirty="0"/>
              <a:t>-ping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9398000" cy="1320800"/>
          </a:xfrm>
        </p:spPr>
        <p:txBody>
          <a:bodyPr/>
          <a:lstStyle/>
          <a:p>
            <a:r>
              <a:t>自製 Python Web 容器與 MySQL容器關聯</a:t>
            </a:r>
            <a:r>
              <a:rPr lang="en-US"/>
              <a:t>(3)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1584960"/>
            <a:ext cx="8596630" cy="4750435"/>
          </a:xfrm>
        </p:spPr>
        <p:txBody>
          <a:bodyPr>
            <a:normAutofit/>
          </a:bodyPr>
          <a:lstStyle/>
          <a:p>
            <a:pPr algn="l"/>
            <a:r>
              <a:rPr sz="1800" b="1" dirty="0" err="1">
                <a:sym typeface="+mn-ea"/>
              </a:rPr>
              <a:t>步驟概述</a:t>
            </a:r>
            <a:r>
              <a:rPr sz="1800" dirty="0">
                <a:sym typeface="+mn-ea"/>
              </a:rPr>
              <a:t>：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sz="1800" dirty="0">
                <a:sym typeface="+mn-ea"/>
              </a:rPr>
              <a:t>步驟4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lang="en-US" sz="1800" dirty="0">
                <a:sym typeface="+mn-ea"/>
              </a:rPr>
              <a:t>	</a:t>
            </a:r>
            <a:r>
              <a:rPr sz="1800" dirty="0" err="1">
                <a:sym typeface="+mn-ea"/>
              </a:rPr>
              <a:t>在python容器內部去ping</a:t>
            </a:r>
            <a:r>
              <a:rPr sz="1800" dirty="0">
                <a:sym typeface="+mn-ea"/>
              </a:rPr>
              <a:t>  </a:t>
            </a:r>
            <a:r>
              <a:rPr sz="1800" dirty="0" err="1">
                <a:sym typeface="+mn-ea"/>
              </a:rPr>
              <a:t>mysql服務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lang="en-US" sz="1800" dirty="0">
                <a:sym typeface="+mn-ea"/>
              </a:rPr>
              <a:t>	</a:t>
            </a:r>
            <a:r>
              <a:rPr sz="1800" dirty="0">
                <a:sym typeface="+mn-ea"/>
              </a:rPr>
              <a:t>Ping </a:t>
            </a:r>
            <a:r>
              <a:rPr sz="1800" dirty="0" err="1">
                <a:sym typeface="+mn-ea"/>
              </a:rPr>
              <a:t>mysql</a:t>
            </a:r>
            <a:r>
              <a:rPr sz="1800" dirty="0">
                <a:sym typeface="+mn-ea"/>
              </a:rPr>
              <a:t>-container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lang="en-US" sz="1800" dirty="0">
                <a:sym typeface="+mn-ea"/>
              </a:rPr>
              <a:t>	</a:t>
            </a:r>
            <a:r>
              <a:rPr sz="1800" dirty="0" err="1">
                <a:sym typeface="+mn-ea"/>
              </a:rPr>
              <a:t>容器之間可以直接用「容器名稱」當成</a:t>
            </a:r>
            <a:r>
              <a:rPr sz="1800" dirty="0">
                <a:sym typeface="+mn-ea"/>
              </a:rPr>
              <a:t> Hostname 來 ping </a:t>
            </a:r>
            <a:r>
              <a:rPr sz="1800" dirty="0" err="1">
                <a:sym typeface="+mn-ea"/>
              </a:rPr>
              <a:t>或連線。這是</a:t>
            </a:r>
            <a:r>
              <a:rPr sz="1800" dirty="0">
                <a:sym typeface="+mn-ea"/>
              </a:rPr>
              <a:t> </a:t>
            </a:r>
            <a:r>
              <a:rPr lang="en-US" sz="1800" dirty="0">
                <a:sym typeface="+mn-ea"/>
              </a:rPr>
              <a:t>	</a:t>
            </a:r>
            <a:r>
              <a:rPr sz="1800" dirty="0">
                <a:sym typeface="+mn-ea"/>
              </a:rPr>
              <a:t>Docker </a:t>
            </a:r>
            <a:r>
              <a:rPr sz="1800" dirty="0" err="1">
                <a:sym typeface="+mn-ea"/>
              </a:rPr>
              <a:t>內建的</a:t>
            </a:r>
            <a:r>
              <a:rPr sz="1800" dirty="0">
                <a:sym typeface="+mn-ea"/>
              </a:rPr>
              <a:t> DNS </a:t>
            </a:r>
            <a:r>
              <a:rPr sz="1800" dirty="0" err="1">
                <a:sym typeface="+mn-ea"/>
              </a:rPr>
              <a:t>解析功能</a:t>
            </a:r>
            <a:r>
              <a:rPr sz="1800" dirty="0">
                <a:sym typeface="+mn-ea"/>
              </a:rPr>
              <a:t>。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lang="en-US" sz="1800" dirty="0">
                <a:sym typeface="+mn-ea"/>
              </a:rPr>
              <a:t>	</a:t>
            </a:r>
            <a:r>
              <a:rPr sz="1800" dirty="0" err="1">
                <a:sym typeface="+mn-ea"/>
              </a:rPr>
              <a:t>會ping</a:t>
            </a:r>
            <a:r>
              <a:rPr sz="1800" dirty="0">
                <a:sym typeface="+mn-ea"/>
              </a:rPr>
              <a:t> </a:t>
            </a:r>
            <a:r>
              <a:rPr sz="1800" dirty="0" err="1">
                <a:sym typeface="+mn-ea"/>
              </a:rPr>
              <a:t>不到</a:t>
            </a:r>
            <a:r>
              <a:rPr sz="1800" dirty="0">
                <a:sym typeface="+mn-ea"/>
              </a:rPr>
              <a:t> </a:t>
            </a:r>
            <a:r>
              <a:rPr sz="1800" dirty="0" err="1">
                <a:sym typeface="+mn-ea"/>
              </a:rPr>
              <a:t>是正常的</a:t>
            </a:r>
            <a:r>
              <a:rPr sz="1800" dirty="0">
                <a:sym typeface="+mn-ea"/>
              </a:rPr>
              <a:t> 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endParaRPr sz="18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9398000" cy="1320800"/>
          </a:xfrm>
        </p:spPr>
        <p:txBody>
          <a:bodyPr/>
          <a:lstStyle/>
          <a:p>
            <a:r>
              <a:t>自製 Python Web 容器與 MySQL容器關聯</a:t>
            </a:r>
            <a:r>
              <a:rPr lang="en-US"/>
              <a:t>(4)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1584960"/>
            <a:ext cx="8596630" cy="4750435"/>
          </a:xfrm>
        </p:spPr>
        <p:txBody>
          <a:bodyPr>
            <a:normAutofit/>
          </a:bodyPr>
          <a:lstStyle/>
          <a:p>
            <a:pPr algn="l"/>
            <a:r>
              <a:rPr sz="1800" b="1" dirty="0" err="1">
                <a:sym typeface="+mn-ea"/>
              </a:rPr>
              <a:t>步驟概述</a:t>
            </a:r>
            <a:r>
              <a:rPr sz="1800" dirty="0">
                <a:sym typeface="+mn-ea"/>
              </a:rPr>
              <a:t>：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sz="1800" dirty="0">
                <a:sym typeface="+mn-ea"/>
              </a:rPr>
              <a:t>步驟5 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lang="en-US" sz="1800" dirty="0">
                <a:sym typeface="+mn-ea"/>
              </a:rPr>
              <a:t>	</a:t>
            </a:r>
            <a:r>
              <a:rPr sz="1800" dirty="0" err="1">
                <a:sym typeface="+mn-ea"/>
              </a:rPr>
              <a:t>開始建立</a:t>
            </a:r>
            <a:r>
              <a:rPr sz="1800" dirty="0">
                <a:sym typeface="+mn-ea"/>
              </a:rPr>
              <a:t> net </a:t>
            </a:r>
            <a:r>
              <a:rPr sz="1800" dirty="0" err="1">
                <a:sym typeface="+mn-ea"/>
              </a:rPr>
              <a:t>網路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lang="en-US" sz="1800" dirty="0">
                <a:sym typeface="+mn-ea"/>
              </a:rPr>
              <a:t>	</a:t>
            </a:r>
            <a:r>
              <a:rPr sz="1800" dirty="0" err="1">
                <a:sym typeface="+mn-ea"/>
              </a:rPr>
              <a:t>docker</a:t>
            </a:r>
            <a:r>
              <a:rPr sz="1800" dirty="0">
                <a:sym typeface="+mn-ea"/>
              </a:rPr>
              <a:t> network ls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lang="en-US" sz="1800" dirty="0">
                <a:sym typeface="+mn-ea"/>
              </a:rPr>
              <a:t>	</a:t>
            </a:r>
            <a:r>
              <a:rPr sz="1800" dirty="0" err="1">
                <a:sym typeface="+mn-ea"/>
              </a:rPr>
              <a:t>查看當前網路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lang="en-US" sz="1800" dirty="0">
                <a:sym typeface="+mn-ea"/>
              </a:rPr>
              <a:t>	</a:t>
            </a:r>
            <a:r>
              <a:rPr sz="1800" dirty="0" err="1">
                <a:sym typeface="+mn-ea"/>
              </a:rPr>
              <a:t>docker</a:t>
            </a:r>
            <a:r>
              <a:rPr sz="1800" dirty="0">
                <a:sym typeface="+mn-ea"/>
              </a:rPr>
              <a:t> network create </a:t>
            </a:r>
            <a:r>
              <a:rPr sz="1800" dirty="0" err="1">
                <a:sym typeface="+mn-ea"/>
              </a:rPr>
              <a:t>pytosql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lang="en-US" sz="1800" dirty="0">
                <a:sym typeface="+mn-ea"/>
              </a:rPr>
              <a:t>	</a:t>
            </a:r>
            <a:r>
              <a:rPr sz="1800" dirty="0" err="1">
                <a:sym typeface="+mn-ea"/>
              </a:rPr>
              <a:t>docker</a:t>
            </a:r>
            <a:r>
              <a:rPr sz="1800" dirty="0">
                <a:sym typeface="+mn-ea"/>
              </a:rPr>
              <a:t> network ls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lang="en-US" sz="1800" dirty="0">
                <a:sym typeface="+mn-ea"/>
              </a:rPr>
              <a:t>	</a:t>
            </a:r>
            <a:r>
              <a:rPr sz="1800" dirty="0" err="1">
                <a:sym typeface="+mn-ea"/>
              </a:rPr>
              <a:t>在確認一次是否建立成功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endParaRPr sz="1800" dirty="0">
              <a:sym typeface="+mn-ea"/>
            </a:endParaRPr>
          </a:p>
          <a:p>
            <a:pPr marL="0" indent="0" algn="l">
              <a:buNone/>
            </a:pPr>
            <a:r>
              <a:rPr lang="en-US" sz="1800" dirty="0">
                <a:sym typeface="+mn-ea"/>
              </a:rPr>
              <a:t>	</a:t>
            </a:r>
            <a:r>
              <a:rPr sz="1800" dirty="0" err="1">
                <a:sym typeface="+mn-ea"/>
              </a:rPr>
              <a:t>docker</a:t>
            </a:r>
            <a:r>
              <a:rPr sz="1800" dirty="0">
                <a:sym typeface="+mn-ea"/>
              </a:rPr>
              <a:t> network </a:t>
            </a:r>
            <a:r>
              <a:rPr sz="1800" dirty="0" err="1">
                <a:sym typeface="+mn-ea"/>
              </a:rPr>
              <a:t>rm</a:t>
            </a:r>
            <a:r>
              <a:rPr sz="1800" dirty="0">
                <a:sym typeface="+mn-ea"/>
              </a:rPr>
              <a:t> </a:t>
            </a:r>
            <a:r>
              <a:rPr sz="1800" dirty="0" err="1">
                <a:sym typeface="+mn-ea"/>
              </a:rPr>
              <a:t>可以刪除</a:t>
            </a:r>
            <a:r>
              <a:rPr sz="1800" dirty="0">
                <a:sym typeface="+mn-ea"/>
              </a:rPr>
              <a:t> net</a:t>
            </a:r>
            <a:endParaRPr sz="1800" dirty="0">
              <a:sym typeface="+mn-ea"/>
            </a:endParaRPr>
          </a:p>
          <a:p>
            <a:pPr marL="0" indent="0" algn="l">
              <a:buNone/>
            </a:pPr>
            <a:endParaRPr sz="18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9398000" cy="1320800"/>
          </a:xfrm>
        </p:spPr>
        <p:txBody>
          <a:bodyPr/>
          <a:lstStyle/>
          <a:p>
            <a:r>
              <a:t>自製 Python Web 容器與 MySQL容器關聯</a:t>
            </a:r>
            <a:r>
              <a:rPr lang="en-US"/>
              <a:t>(5)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1584960"/>
            <a:ext cx="8596630" cy="4750435"/>
          </a:xfrm>
        </p:spPr>
        <p:txBody>
          <a:bodyPr>
            <a:normAutofit/>
          </a:bodyPr>
          <a:lstStyle/>
          <a:p>
            <a:pPr algn="l"/>
            <a:r>
              <a:rPr sz="1800" b="1">
                <a:sym typeface="+mn-ea"/>
              </a:rPr>
              <a:t>步驟概述</a:t>
            </a:r>
            <a:r>
              <a:rPr sz="1800">
                <a:sym typeface="+mn-ea"/>
              </a:rPr>
              <a:t>：</a:t>
            </a:r>
            <a:endParaRPr sz="1800">
              <a:sym typeface="+mn-ea"/>
            </a:endParaRPr>
          </a:p>
          <a:p>
            <a:pPr marL="0" indent="0" algn="l">
              <a:buNone/>
            </a:pPr>
            <a:r>
              <a:rPr sz="1800">
                <a:sym typeface="+mn-ea"/>
              </a:rPr>
              <a:t>步驟6 </a:t>
            </a:r>
            <a:endParaRPr sz="1800">
              <a:sym typeface="+mn-ea"/>
            </a:endParaRPr>
          </a:p>
          <a:p>
            <a:pPr marL="0" indent="0" algn="l">
              <a:buNone/>
            </a:pPr>
            <a:r>
              <a:rPr lang="en-US" sz="1800">
                <a:sym typeface="+mn-ea"/>
              </a:rPr>
              <a:t>	</a:t>
            </a:r>
            <a:r>
              <a:rPr sz="1800">
                <a:sym typeface="+mn-ea"/>
              </a:rPr>
              <a:t>停止兩個容器並刪除</a:t>
            </a:r>
            <a:endParaRPr sz="1800">
              <a:sym typeface="+mn-ea"/>
            </a:endParaRPr>
          </a:p>
          <a:p>
            <a:pPr marL="0" indent="0" algn="l">
              <a:buNone/>
            </a:pPr>
            <a:r>
              <a:rPr lang="en-US" sz="1800">
                <a:sym typeface="+mn-ea"/>
              </a:rPr>
              <a:t>	</a:t>
            </a:r>
            <a:r>
              <a:rPr sz="1800">
                <a:sym typeface="+mn-ea"/>
              </a:rPr>
              <a:t>重新啟動這兩個image </a:t>
            </a:r>
            <a:endParaRPr sz="1800">
              <a:sym typeface="+mn-ea"/>
            </a:endParaRPr>
          </a:p>
          <a:p>
            <a:pPr marL="0" indent="0" algn="l">
              <a:buNone/>
            </a:pPr>
            <a:endParaRPr sz="1800">
              <a:sym typeface="+mn-ea"/>
            </a:endParaRPr>
          </a:p>
          <a:p>
            <a:pPr marL="0" indent="0" algn="l">
              <a:buNone/>
            </a:pPr>
            <a:r>
              <a:rPr lang="en-US" sz="1800">
                <a:sym typeface="+mn-ea"/>
              </a:rPr>
              <a:t>	</a:t>
            </a:r>
            <a:r>
              <a:rPr sz="1800">
                <a:sym typeface="+mn-ea"/>
              </a:rPr>
              <a:t>docker run</a:t>
            </a:r>
            <a:endParaRPr sz="1800">
              <a:sym typeface="+mn-ea"/>
            </a:endParaRPr>
          </a:p>
          <a:p>
            <a:pPr marL="0" indent="0" algn="l">
              <a:buNone/>
            </a:pPr>
            <a:endParaRPr sz="1800">
              <a:sym typeface="+mn-ea"/>
            </a:endParaRPr>
          </a:p>
          <a:p>
            <a:pPr marL="0" indent="0" algn="l">
              <a:buNone/>
            </a:pPr>
            <a:r>
              <a:rPr lang="en-US" sz="1800">
                <a:sym typeface="+mn-ea"/>
              </a:rPr>
              <a:t>	</a:t>
            </a:r>
            <a:r>
              <a:rPr sz="1800">
                <a:sym typeface="+mn-ea"/>
              </a:rPr>
              <a:t>並加上 –net </a:t>
            </a:r>
            <a:endParaRPr sz="1800">
              <a:sym typeface="+mn-ea"/>
            </a:endParaRPr>
          </a:p>
          <a:p>
            <a:pPr marL="0" indent="0" algn="l">
              <a:buNone/>
            </a:pPr>
            <a:r>
              <a:rPr lang="en-US" sz="1800">
                <a:sym typeface="+mn-ea"/>
              </a:rPr>
              <a:t>	</a:t>
            </a:r>
            <a:r>
              <a:rPr sz="1800">
                <a:sym typeface="+mn-ea"/>
              </a:rPr>
              <a:t>--net pytosql 的參數</a:t>
            </a:r>
            <a:endParaRPr sz="1800">
              <a:sym typeface="+mn-ea"/>
            </a:endParaRPr>
          </a:p>
          <a:p>
            <a:pPr marL="0" indent="0" algn="l">
              <a:buNone/>
            </a:pPr>
            <a:endParaRPr sz="1800">
              <a:sym typeface="+mn-ea"/>
            </a:endParaRPr>
          </a:p>
          <a:p>
            <a:pPr marL="0" indent="0" algn="l">
              <a:buNone/>
            </a:pPr>
            <a:r>
              <a:rPr lang="en-US" sz="1800">
                <a:sym typeface="+mn-ea"/>
              </a:rPr>
              <a:t>	</a:t>
            </a:r>
            <a:r>
              <a:rPr sz="1800">
                <a:sym typeface="+mn-ea"/>
              </a:rPr>
              <a:t>這是讓python以及mysql 吃到同一個 網路的設定</a:t>
            </a:r>
            <a:endParaRPr sz="18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9398000" cy="1320800"/>
          </a:xfrm>
        </p:spPr>
        <p:txBody>
          <a:bodyPr/>
          <a:lstStyle/>
          <a:p>
            <a:r>
              <a:t>自製 Python Web 容器與 MySQL容器關聯</a:t>
            </a:r>
            <a:r>
              <a:rPr lang="en-US"/>
              <a:t>(6)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1584960"/>
            <a:ext cx="8596630" cy="475043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sz="1800" b="1">
                <a:sym typeface="+mn-ea"/>
              </a:rPr>
              <a:t>步驟概述</a:t>
            </a:r>
            <a:r>
              <a:rPr sz="1800">
                <a:sym typeface="+mn-ea"/>
              </a:rPr>
              <a:t>：</a:t>
            </a:r>
            <a:endParaRPr sz="1800">
              <a:sym typeface="+mn-ea"/>
            </a:endParaRPr>
          </a:p>
          <a:p>
            <a:pPr marL="0" indent="0" algn="l">
              <a:buNone/>
            </a:pPr>
            <a:r>
              <a:rPr sz="1800">
                <a:sym typeface="+mn-ea"/>
              </a:rPr>
              <a:t>步驟7</a:t>
            </a:r>
            <a:endParaRPr sz="1800">
              <a:sym typeface="+mn-ea"/>
            </a:endParaRPr>
          </a:p>
          <a:p>
            <a:pPr marL="0" indent="0" algn="l">
              <a:buNone/>
            </a:pPr>
            <a:r>
              <a:rPr lang="en-US" sz="1800">
                <a:sym typeface="+mn-ea"/>
              </a:rPr>
              <a:t>	</a:t>
            </a:r>
            <a:r>
              <a:rPr sz="1800">
                <a:sym typeface="+mn-ea"/>
              </a:rPr>
              <a:t>執行步驟4 這時候就可以ping到mysql的容器服務</a:t>
            </a:r>
            <a:endParaRPr sz="1800">
              <a:sym typeface="+mn-ea"/>
            </a:endParaRPr>
          </a:p>
          <a:p>
            <a:pPr marL="0" indent="0" algn="l">
              <a:buNone/>
            </a:pPr>
            <a:endParaRPr sz="1800">
              <a:sym typeface="+mn-ea"/>
            </a:endParaRPr>
          </a:p>
          <a:p>
            <a:pPr marL="0" indent="0" algn="l">
              <a:buNone/>
            </a:pPr>
            <a:r>
              <a:rPr sz="1800">
                <a:sym typeface="+mn-ea"/>
              </a:rPr>
              <a:t>步驟8</a:t>
            </a:r>
            <a:endParaRPr sz="1800">
              <a:sym typeface="+mn-ea"/>
            </a:endParaRPr>
          </a:p>
          <a:p>
            <a:pPr marL="0" indent="0" algn="l">
              <a:buNone/>
            </a:pPr>
            <a:r>
              <a:rPr lang="en-US" sz="1800">
                <a:sym typeface="+mn-ea"/>
              </a:rPr>
              <a:t>	</a:t>
            </a:r>
            <a:r>
              <a:rPr sz="1800">
                <a:sym typeface="+mn-ea"/>
              </a:rPr>
              <a:t>測試python能不能抓到mysql資料 應該還是不行 因為還有最後一件事情要做</a:t>
            </a:r>
            <a:endParaRPr sz="1800">
              <a:sym typeface="+mn-ea"/>
            </a:endParaRPr>
          </a:p>
          <a:p>
            <a:pPr marL="0" indent="0" algn="l">
              <a:buNone/>
            </a:pPr>
            <a:endParaRPr sz="1800">
              <a:sym typeface="+mn-ea"/>
            </a:endParaRPr>
          </a:p>
          <a:p>
            <a:pPr marL="0" indent="0" algn="l">
              <a:buNone/>
            </a:pPr>
            <a:r>
              <a:rPr sz="1800">
                <a:sym typeface="+mn-ea"/>
              </a:rPr>
              <a:t>步驟9</a:t>
            </a:r>
            <a:endParaRPr sz="1800">
              <a:sym typeface="+mn-ea"/>
            </a:endParaRPr>
          </a:p>
          <a:p>
            <a:pPr marL="0" indent="0" algn="l">
              <a:buNone/>
            </a:pPr>
            <a:r>
              <a:rPr lang="en-US" sz="1800">
                <a:sym typeface="+mn-ea"/>
              </a:rPr>
              <a:t>	</a:t>
            </a:r>
            <a:r>
              <a:rPr sz="1800">
                <a:sym typeface="+mn-ea"/>
              </a:rPr>
              <a:t>修改程式碼內的db位置</a:t>
            </a:r>
            <a:endParaRPr sz="1800">
              <a:sym typeface="+mn-ea"/>
            </a:endParaRPr>
          </a:p>
          <a:p>
            <a:pPr marL="0" indent="0" algn="l">
              <a:buNone/>
            </a:pPr>
            <a:r>
              <a:rPr lang="en-US" sz="1800">
                <a:sym typeface="+mn-ea"/>
              </a:rPr>
              <a:t>	</a:t>
            </a:r>
            <a:r>
              <a:rPr sz="1800">
                <a:sym typeface="+mn-ea"/>
              </a:rPr>
              <a:t>一樣改成mysql容器的名稱 才可以抓到</a:t>
            </a:r>
            <a:endParaRPr sz="1800">
              <a:sym typeface="+mn-ea"/>
            </a:endParaRPr>
          </a:p>
          <a:p>
            <a:pPr marL="0" indent="0" algn="l">
              <a:buNone/>
            </a:pPr>
            <a:endParaRPr sz="1800">
              <a:sym typeface="+mn-ea"/>
            </a:endParaRPr>
          </a:p>
          <a:p>
            <a:pPr marL="0" indent="0" algn="l">
              <a:buNone/>
            </a:pPr>
            <a:r>
              <a:rPr>
                <a:sym typeface="+mn-ea"/>
              </a:rPr>
              <a:t>步驟</a:t>
            </a:r>
            <a:r>
              <a:rPr lang="en-US">
                <a:sym typeface="+mn-ea"/>
              </a:rPr>
              <a:t>10</a:t>
            </a:r>
            <a:endParaRPr lang="en-US">
              <a:sym typeface="+mn-ea"/>
            </a:endParaRPr>
          </a:p>
          <a:p>
            <a:pPr marL="0" indent="0" algn="l">
              <a:buNone/>
            </a:pPr>
            <a:r>
              <a:rPr lang="en-US" sz="1800">
                <a:sym typeface="+mn-ea"/>
              </a:rPr>
              <a:t>	</a:t>
            </a:r>
            <a:r>
              <a:rPr lang="zh-TW" altLang="en-US" sz="1800">
                <a:sym typeface="+mn-ea"/>
              </a:rPr>
              <a:t>抓取資料成功</a:t>
            </a:r>
            <a:endParaRPr lang="zh-TW" altLang="en-US" sz="18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休息</a:t>
            </a:r>
            <a:r>
              <a:rPr lang="zh-TW" altLang="en-US" dirty="0" smtClean="0"/>
              <a:t>一下</a:t>
            </a:r>
            <a:br>
              <a:rPr lang="en-US" altLang="zh-TW" dirty="0" smtClean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學員提問</a:t>
            </a:r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869" y="328295"/>
            <a:ext cx="8596668" cy="1320800"/>
          </a:xfrm>
        </p:spPr>
        <p:txBody>
          <a:bodyPr/>
          <a:lstStyle/>
          <a:p>
            <a:r>
              <a:t> Docker 網路的建立與管理</a:t>
            </a:r>
            <a:br/>
            <a:r>
              <a:t> </a:t>
            </a:r>
            <a:r>
              <a:rPr lang="en-US">
                <a:sym typeface="+mn-ea"/>
              </a:rPr>
              <a:t>docker --net</a:t>
            </a:r>
            <a:endParaRPr 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b="1"/>
              <a:t>網路管理</a:t>
            </a:r>
            <a:r>
              <a:t>：</a:t>
            </a:r>
          </a:p>
          <a:p>
            <a:pPr lvl="1" algn="l"/>
            <a:r>
              <a:t>使用 docker network 可以查看、創建或刪除 Docker 網路，這對於容器的互通性至關重要。</a:t>
            </a:r>
          </a:p>
          <a:p>
            <a:pPr algn="l"/>
            <a:r>
              <a:rPr b="1"/>
              <a:t>網路創建</a:t>
            </a:r>
            <a:r>
              <a:t>：</a:t>
            </a:r>
          </a:p>
          <a:p>
            <a:pPr lvl="1" algn="l"/>
            <a:r>
              <a:t>通過如下命令創建新的網路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docker network create </a:t>
            </a:r>
            <a:r>
              <a:rPr>
                <a:sym typeface="+mn-ea"/>
              </a:rPr>
              <a:t>《network_name》</a:t>
            </a:r>
            <a:endParaRPr lang="en-US"/>
          </a:p>
          <a:p>
            <a:pPr lvl="1" algn="l"/>
            <a:r>
              <a:t>確認網路創建後，可以將 Python 容器和 MySQL 容器都加到這個網路中。</a:t>
            </a:r>
          </a:p>
          <a:p>
            <a:pPr algn="l"/>
            <a:r>
              <a:rPr b="1"/>
              <a:t>網路刪除</a:t>
            </a:r>
            <a:r>
              <a:t>：</a:t>
            </a:r>
          </a:p>
          <a:p>
            <a:pPr lvl="1" algn="l"/>
            <a:r>
              <a:t>若需刪除不再使用的網路，可以使用 docker network rm 《network_name》 命令進行管理。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739" y="287020"/>
            <a:ext cx="8596668" cy="1320800"/>
          </a:xfrm>
        </p:spPr>
        <p:txBody>
          <a:bodyPr/>
          <a:lstStyle/>
          <a:p>
            <a:r>
              <a:rPr>
                <a:sym typeface="+mn-ea"/>
              </a:rPr>
              <a:t>Docker 網路的建立與管理</a:t>
            </a:r>
            <a:r>
              <a:rPr lang="en-US">
                <a:sym typeface="+mn-ea"/>
              </a:rPr>
              <a:t>(2)</a:t>
            </a:r>
            <a:br>
              <a:rPr lang="en-US">
                <a:sym typeface="+mn-ea"/>
              </a:rPr>
            </a:br>
            <a:r>
              <a:rPr lang="en-US">
                <a:sym typeface="+mn-ea"/>
              </a:rPr>
              <a:t>docker --net</a:t>
            </a:r>
            <a:endParaRPr 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950" y="1679575"/>
            <a:ext cx="8596630" cy="4970145"/>
          </a:xfrm>
        </p:spPr>
        <p:txBody>
          <a:bodyPr>
            <a:normAutofit/>
          </a:bodyPr>
          <a:lstStyle/>
          <a:p>
            <a:pPr algn="l"/>
            <a:r>
              <a:rPr b="1"/>
              <a:t>容器內部通信</a:t>
            </a:r>
            <a:r>
              <a:t>：</a:t>
            </a:r>
          </a:p>
          <a:p>
            <a:pPr marL="457200" lvl="1" indent="0" algn="l">
              <a:buNone/>
            </a:pPr>
            <a:r>
              <a:t>在 Python 容器內，可以使用 ping 命令檢查是否能夠訪問 MySQL 容器，這是確認容器之間連接是否正常的重要步驟。</a:t>
            </a:r>
            <a:endParaRPr lang="en-US"/>
          </a:p>
          <a:p>
            <a:pPr algn="l"/>
            <a:r>
              <a:rPr b="1"/>
              <a:t>測試數據連接</a:t>
            </a:r>
            <a:r>
              <a:t>：</a:t>
            </a:r>
            <a:endParaRPr i="1"/>
          </a:p>
          <a:p>
            <a:pPr marL="457200" lvl="1" indent="0" algn="l">
              <a:buNone/>
            </a:pPr>
            <a:r>
              <a:t>執行 ping mysql-container，若成功，則表示兩個容器之間的網路配置正確。</a:t>
            </a:r>
          </a:p>
          <a:p>
            <a:pPr algn="l"/>
            <a:r>
              <a:rPr b="1"/>
              <a:t>問題排查</a:t>
            </a:r>
            <a:r>
              <a:t>：</a:t>
            </a:r>
          </a:p>
          <a:p>
            <a:pPr marL="457200" lvl="1" indent="0" algn="l">
              <a:buNone/>
            </a:pPr>
            <a:r>
              <a:t>如果無法 ping 通，需檢查網路設置及容器狀態，確保所有設定均已正確。</a:t>
            </a:r>
          </a:p>
          <a:p>
            <a:pPr algn="l"/>
            <a:r>
              <a:rPr lang="en-US" sz="1600">
                <a:sym typeface="+mn-ea"/>
              </a:rPr>
              <a:t>docker --net</a:t>
            </a:r>
            <a:r>
              <a:rPr sz="1600">
                <a:sym typeface="+mn-ea"/>
              </a:rPr>
              <a:t>：</a:t>
            </a:r>
            <a:endParaRPr sz="1600">
              <a:sym typeface="+mn-ea"/>
            </a:endParaRPr>
          </a:p>
          <a:p>
            <a:pPr marL="457200" lvl="1" indent="0" algn="l">
              <a:buNone/>
            </a:pPr>
            <a:r>
              <a:rPr sz="1600">
                <a:sym typeface="+mn-ea"/>
              </a:rPr>
              <a:t>一個 Docker Network 就像一個「池塘」，</a:t>
            </a:r>
            <a:endParaRPr sz="1600">
              <a:sym typeface="+mn-ea"/>
            </a:endParaRPr>
          </a:p>
          <a:p>
            <a:pPr marL="457200" lvl="1" indent="0" algn="l">
              <a:buNone/>
            </a:pPr>
            <a:r>
              <a:rPr sz="1600">
                <a:sym typeface="+mn-ea"/>
              </a:rPr>
              <a:t>每個放進去的「容器」都在同一個池塘裡游，</a:t>
            </a:r>
            <a:endParaRPr sz="1600">
              <a:sym typeface="+mn-ea"/>
            </a:endParaRPr>
          </a:p>
          <a:p>
            <a:pPr marL="457200" lvl="1" indent="0" algn="l">
              <a:buNone/>
            </a:pPr>
            <a:r>
              <a:rPr sz="1600">
                <a:sym typeface="+mn-ea"/>
              </a:rPr>
              <a:t>所以它們之間可以互相連線、交換資料，</a:t>
            </a:r>
            <a:endParaRPr sz="1600">
              <a:sym typeface="+mn-ea"/>
            </a:endParaRPr>
          </a:p>
          <a:p>
            <a:pPr marL="457200" lvl="1" indent="0" algn="l">
              <a:buNone/>
            </a:pPr>
            <a:r>
              <a:rPr sz="1600">
                <a:sym typeface="+mn-ea"/>
              </a:rPr>
              <a:t>但池塘外的世界（主機或外部網路）看不到裡面的容器。</a:t>
            </a:r>
            <a:endParaRPr sz="1600">
              <a:sym typeface="+mn-ea"/>
            </a:endParaRPr>
          </a:p>
          <a:p>
            <a:pPr lvl="1" algn="l"/>
            <a:endParaRPr sz="1600">
              <a:sym typeface="+mn-ea"/>
            </a:endParaRPr>
          </a:p>
        </p:txBody>
      </p:sp>
      <p:pic>
        <p:nvPicPr>
          <p:cNvPr id="5" name="圖片 4" descr="ChatGPT_Image_Oct_14__2025__01_28_28_PM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770" y="3556635"/>
            <a:ext cx="2990850" cy="2990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739" y="287020"/>
            <a:ext cx="8596668" cy="1320800"/>
          </a:xfrm>
        </p:spPr>
        <p:txBody>
          <a:bodyPr/>
          <a:lstStyle/>
          <a:p>
            <a:r>
              <a:rPr dirty="0">
                <a:sym typeface="+mn-ea"/>
              </a:rPr>
              <a:t>Docker </a:t>
            </a:r>
            <a:r>
              <a:rPr dirty="0" err="1">
                <a:sym typeface="+mn-ea"/>
              </a:rPr>
              <a:t>網路的建立與管理</a:t>
            </a:r>
            <a:r>
              <a:rPr lang="en-US" dirty="0" smtClean="0">
                <a:sym typeface="+mn-ea"/>
              </a:rPr>
              <a:t>(</a:t>
            </a:r>
            <a:r>
              <a:rPr lang="en-US" altLang="zh-TW" dirty="0" smtClean="0">
                <a:sym typeface="+mn-ea"/>
              </a:rPr>
              <a:t>3</a:t>
            </a:r>
            <a:r>
              <a:rPr lang="en-US" dirty="0" smtClean="0">
                <a:sym typeface="+mn-ea"/>
              </a:rPr>
              <a:t>)</a:t>
            </a:r>
            <a:br>
              <a:rPr lang="en-US" dirty="0">
                <a:sym typeface="+mn-ea"/>
              </a:rPr>
            </a:br>
            <a:r>
              <a:rPr lang="en-US" dirty="0" err="1">
                <a:sym typeface="+mn-ea"/>
              </a:rPr>
              <a:t>docker</a:t>
            </a:r>
            <a:r>
              <a:rPr lang="en-US" dirty="0">
                <a:sym typeface="+mn-ea"/>
              </a:rPr>
              <a:t> --link </a:t>
            </a:r>
            <a:r>
              <a:rPr lang="zh-TW" altLang="en-US" dirty="0">
                <a:sym typeface="+mn-ea"/>
              </a:rPr>
              <a:t>不推薦使用</a:t>
            </a:r>
            <a:endParaRPr lang="zh-TW" alt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950" y="1679575"/>
            <a:ext cx="8596630" cy="4970145"/>
          </a:xfrm>
        </p:spPr>
        <p:txBody>
          <a:bodyPr>
            <a:normAutofit fontScale="90000" lnSpcReduction="20000"/>
          </a:bodyPr>
          <a:lstStyle/>
          <a:p>
            <a:pPr algn="l"/>
            <a:r>
              <a:rPr dirty="0" err="1"/>
              <a:t>在早期的</a:t>
            </a:r>
            <a:r>
              <a:rPr dirty="0"/>
              <a:t> Docker </a:t>
            </a:r>
            <a:r>
              <a:rPr dirty="0" err="1"/>
              <a:t>版本裡，如果想讓兩個容器互通，可以用</a:t>
            </a:r>
            <a:r>
              <a:rPr dirty="0"/>
              <a:t>：</a:t>
            </a:r>
            <a:endParaRPr dirty="0"/>
          </a:p>
          <a:p>
            <a:pPr algn="l"/>
            <a:r>
              <a:rPr dirty="0" err="1"/>
              <a:t>docker</a:t>
            </a:r>
            <a:r>
              <a:rPr dirty="0"/>
              <a:t> run --link </a:t>
            </a:r>
            <a:r>
              <a:rPr dirty="0" err="1"/>
              <a:t>另一個容器名</a:t>
            </a:r>
            <a:endParaRPr dirty="0"/>
          </a:p>
          <a:p>
            <a:pPr algn="l"/>
            <a:r>
              <a:rPr dirty="0" err="1"/>
              <a:t>這樣</a:t>
            </a:r>
            <a:r>
              <a:rPr dirty="0"/>
              <a:t> Docker </a:t>
            </a:r>
            <a:r>
              <a:rPr dirty="0" err="1"/>
              <a:t>會自動幫你</a:t>
            </a:r>
            <a:r>
              <a:rPr dirty="0"/>
              <a:t>：</a:t>
            </a:r>
            <a:endParaRPr dirty="0"/>
          </a:p>
          <a:p>
            <a:pPr algn="l"/>
            <a:r>
              <a:rPr dirty="0" err="1"/>
              <a:t>在容器內新增一筆</a:t>
            </a:r>
            <a:r>
              <a:rPr dirty="0"/>
              <a:t> hosts </a:t>
            </a:r>
            <a:r>
              <a:rPr dirty="0" err="1"/>
              <a:t>檔設定（把對方容器名稱對應成</a:t>
            </a:r>
            <a:r>
              <a:rPr dirty="0"/>
              <a:t> IP）。</a:t>
            </a:r>
            <a:endParaRPr dirty="0"/>
          </a:p>
          <a:p>
            <a:pPr algn="l"/>
            <a:r>
              <a:rPr dirty="0" err="1"/>
              <a:t>同時幫你加上一些</a:t>
            </a:r>
            <a:r>
              <a:rPr dirty="0"/>
              <a:t> </a:t>
            </a:r>
            <a:r>
              <a:rPr dirty="0" err="1"/>
              <a:t>環境變數，讓程式可以讀取對方的連線資訊</a:t>
            </a:r>
            <a:r>
              <a:rPr dirty="0"/>
              <a:t>。</a:t>
            </a:r>
            <a:endParaRPr dirty="0"/>
          </a:p>
          <a:p>
            <a:pPr algn="l"/>
            <a:r>
              <a:rPr dirty="0" err="1"/>
              <a:t>但現在幾乎不用了</a:t>
            </a:r>
            <a:endParaRPr dirty="0"/>
          </a:p>
          <a:p>
            <a:pPr algn="l"/>
            <a:r>
              <a:rPr dirty="0" err="1"/>
              <a:t>原因</a:t>
            </a:r>
            <a:r>
              <a:rPr dirty="0"/>
              <a:t>：</a:t>
            </a:r>
            <a:endParaRPr dirty="0"/>
          </a:p>
          <a:p>
            <a:pPr algn="l"/>
            <a:r>
              <a:rPr dirty="0"/>
              <a:t>--link </a:t>
            </a:r>
            <a:r>
              <a:rPr dirty="0" err="1"/>
              <a:t>只能在同一台主機使用</a:t>
            </a:r>
            <a:r>
              <a:rPr dirty="0"/>
              <a:t>。</a:t>
            </a:r>
            <a:endParaRPr dirty="0"/>
          </a:p>
          <a:p>
            <a:pPr algn="l"/>
            <a:r>
              <a:rPr dirty="0" err="1"/>
              <a:t>不支援新版的</a:t>
            </a:r>
            <a:r>
              <a:rPr dirty="0"/>
              <a:t> network </a:t>
            </a:r>
            <a:r>
              <a:rPr dirty="0" err="1"/>
              <a:t>驅動</a:t>
            </a:r>
            <a:r>
              <a:rPr dirty="0"/>
              <a:t>。</a:t>
            </a:r>
            <a:endParaRPr dirty="0"/>
          </a:p>
          <a:p>
            <a:pPr algn="l"/>
            <a:r>
              <a:rPr dirty="0" err="1"/>
              <a:t>被官方標記為「deprecated（過時</a:t>
            </a:r>
            <a:r>
              <a:rPr dirty="0"/>
              <a:t>）」</a:t>
            </a:r>
            <a:endParaRPr dirty="0"/>
          </a:p>
          <a:p>
            <a:pPr algn="l"/>
            <a:r>
              <a:rPr lang="zh-TW" altLang="en-US" dirty="0"/>
              <a:t>寫法複雜，如果</a:t>
            </a:r>
            <a:r>
              <a:rPr lang="en-US" altLang="zh-TW" dirty="0"/>
              <a:t>A</a:t>
            </a:r>
            <a:r>
              <a:rPr lang="zh-TW" altLang="en-US" dirty="0"/>
              <a:t>容器要連結</a:t>
            </a:r>
            <a:r>
              <a:rPr lang="en-US" altLang="zh-TW" dirty="0"/>
              <a:t>B</a:t>
            </a:r>
            <a:r>
              <a:rPr lang="zh-TW" altLang="en-US" dirty="0"/>
              <a:t>和</a:t>
            </a:r>
            <a:r>
              <a:rPr lang="en-US" altLang="zh-TW" dirty="0"/>
              <a:t>C</a:t>
            </a:r>
            <a:r>
              <a:rPr lang="zh-TW" altLang="en-US" dirty="0"/>
              <a:t>容器</a:t>
            </a:r>
            <a:endParaRPr lang="zh-TW" altLang="en-US" dirty="0"/>
          </a:p>
          <a:p>
            <a:pPr algn="l"/>
            <a:r>
              <a:rPr lang="zh-TW" altLang="en-US" dirty="0"/>
              <a:t>docker run -it --rm --name a \</a:t>
            </a:r>
            <a:endParaRPr lang="zh-TW" altLang="en-US" dirty="0"/>
          </a:p>
          <a:p>
            <a:pPr algn="l"/>
            <a:r>
              <a:rPr lang="zh-TW" altLang="en-US" dirty="0"/>
              <a:t>  --link b:bsvc \</a:t>
            </a:r>
            <a:endParaRPr lang="zh-TW" altLang="en-US" dirty="0"/>
          </a:p>
          <a:p>
            <a:pPr algn="l"/>
            <a:r>
              <a:rPr lang="zh-TW" altLang="en-US" dirty="0"/>
              <a:t>  --link c:csvc \</a:t>
            </a:r>
            <a:endParaRPr lang="zh-TW" altLang="en-US" dirty="0"/>
          </a:p>
          <a:p>
            <a:pPr algn="l"/>
            <a:r>
              <a:rPr lang="zh-TW" altLang="en-US" dirty="0"/>
              <a:t>  busybox sh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334" y="263371"/>
            <a:ext cx="8596668" cy="1320800"/>
          </a:xfrm>
        </p:spPr>
        <p:txBody>
          <a:bodyPr/>
          <a:lstStyle/>
          <a:p>
            <a:r>
              <a:rPr lang="en-US" altLang="zh-TW" dirty="0" smtClean="0"/>
              <a:t>Docker </a:t>
            </a:r>
            <a:r>
              <a:rPr lang="en-US" altLang="zh-TW" dirty="0"/>
              <a:t>run --</a:t>
            </a:r>
            <a:r>
              <a:rPr lang="en-US" altLang="zh-TW" dirty="0" err="1" smtClean="0"/>
              <a:t>rm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468131"/>
            <a:ext cx="8596668" cy="4222456"/>
          </a:xfrm>
        </p:spPr>
        <p:txBody>
          <a:bodyPr/>
          <a:lstStyle/>
          <a:p>
            <a:r>
              <a:rPr lang="en-US" altLang="zh-TW" dirty="0" err="1"/>
              <a:t>docker</a:t>
            </a:r>
            <a:r>
              <a:rPr lang="en-US" altLang="zh-TW" dirty="0"/>
              <a:t> run </a:t>
            </a:r>
            <a:r>
              <a:rPr lang="zh-TW" altLang="en-US" dirty="0"/>
              <a:t>是建立並啟動容器的基本指令，而 </a:t>
            </a:r>
            <a:r>
              <a:rPr lang="en-US" altLang="zh-TW" dirty="0"/>
              <a:t>--</a:t>
            </a:r>
            <a:r>
              <a:rPr lang="en-US" altLang="zh-TW" dirty="0" err="1"/>
              <a:t>rm</a:t>
            </a:r>
            <a:r>
              <a:rPr lang="en-US" altLang="zh-TW" dirty="0"/>
              <a:t> </a:t>
            </a:r>
            <a:r>
              <a:rPr lang="zh-TW" altLang="en-US" dirty="0"/>
              <a:t>是一個常用參數，意思是</a:t>
            </a:r>
            <a:r>
              <a:rPr lang="zh-TW" altLang="en-US" dirty="0" smtClean="0"/>
              <a:t>：</a:t>
            </a:r>
            <a:endParaRPr lang="zh-TW" altLang="en-US" dirty="0"/>
          </a:p>
          <a:p>
            <a:r>
              <a:rPr lang="zh-TW" altLang="en-US" dirty="0"/>
              <a:t>✅ 容器在結束（停止）後會自動刪除，不保留</a:t>
            </a:r>
            <a:r>
              <a:rPr lang="zh-TW" altLang="en-US" dirty="0" smtClean="0"/>
              <a:t>。</a:t>
            </a:r>
            <a:endParaRPr lang="zh-TW" altLang="en-US" dirty="0"/>
          </a:p>
          <a:p>
            <a:r>
              <a:rPr lang="zh-TW" altLang="en-US" dirty="0" smtClean="0"/>
              <a:t>用途</a:t>
            </a:r>
            <a:r>
              <a:rPr lang="zh-TW" altLang="en-US" dirty="0"/>
              <a:t>說明</a:t>
            </a:r>
            <a:r>
              <a:rPr lang="zh-TW" altLang="en-US" dirty="0" smtClean="0"/>
              <a:t>：</a:t>
            </a:r>
            <a:endParaRPr lang="zh-TW" altLang="en-US" dirty="0"/>
          </a:p>
          <a:p>
            <a:r>
              <a:rPr lang="zh-TW" altLang="en-US" dirty="0"/>
              <a:t>在一般情況下，</a:t>
            </a:r>
            <a:r>
              <a:rPr lang="en-US" altLang="zh-TW" dirty="0"/>
              <a:t>Docker </a:t>
            </a:r>
            <a:r>
              <a:rPr lang="zh-TW" altLang="en-US" dirty="0"/>
              <a:t>容器在執行完畢後會「保留」在系統裡（可用 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en-US" altLang="zh-TW" dirty="0" err="1"/>
              <a:t>ps</a:t>
            </a:r>
            <a:r>
              <a:rPr lang="en-US" altLang="zh-TW" dirty="0"/>
              <a:t> -a </a:t>
            </a:r>
            <a:r>
              <a:rPr lang="zh-TW" altLang="en-US" dirty="0"/>
              <a:t>看到）。</a:t>
            </a:r>
            <a:endParaRPr lang="zh-TW" altLang="en-US" dirty="0"/>
          </a:p>
          <a:p>
            <a:r>
              <a:rPr lang="zh-TW" altLang="en-US" dirty="0"/>
              <a:t>但如果你只是想暫時跑個一次性任務（例如測試、執行工具），不希望留下垃圾容器，就可以加上 </a:t>
            </a:r>
            <a:r>
              <a:rPr lang="en-US" altLang="zh-TW" dirty="0"/>
              <a:t>--</a:t>
            </a:r>
            <a:r>
              <a:rPr lang="en-US" altLang="zh-TW" dirty="0" err="1"/>
              <a:t>rm</a:t>
            </a:r>
            <a:r>
              <a:rPr lang="zh-TW" altLang="en-US" dirty="0"/>
              <a:t>。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334" y="263371"/>
            <a:ext cx="8596668" cy="1320800"/>
          </a:xfrm>
        </p:spPr>
        <p:txBody>
          <a:bodyPr/>
          <a:lstStyle/>
          <a:p>
            <a:r>
              <a:rPr lang="en-US" altLang="zh-TW" dirty="0" smtClean="0"/>
              <a:t>Docker run –-</a:t>
            </a:r>
            <a:r>
              <a:rPr lang="en-US" altLang="zh-TW" dirty="0" err="1" smtClean="0"/>
              <a:t>rm</a:t>
            </a:r>
            <a:r>
              <a:rPr lang="zh-TW" altLang="en-US" dirty="0"/>
              <a:t>指令運用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468131"/>
            <a:ext cx="8596668" cy="4222456"/>
          </a:xfrm>
        </p:spPr>
        <p:txBody>
          <a:bodyPr/>
          <a:lstStyle/>
          <a:p>
            <a:r>
              <a:rPr lang="zh-TW" altLang="en-US" dirty="0" smtClean="0"/>
              <a:t>輸入</a:t>
            </a:r>
            <a:r>
              <a:rPr lang="en-US" altLang="zh-TW" dirty="0" err="1" smtClean="0"/>
              <a:t>docker</a:t>
            </a:r>
            <a:r>
              <a:rPr lang="en-US" altLang="zh-TW" dirty="0" smtClean="0"/>
              <a:t> </a:t>
            </a:r>
            <a:r>
              <a:rPr lang="en-US" altLang="zh-TW" dirty="0"/>
              <a:t>run -it --</a:t>
            </a:r>
            <a:r>
              <a:rPr lang="en-US" altLang="zh-TW" dirty="0" err="1"/>
              <a:t>rm</a:t>
            </a:r>
            <a:r>
              <a:rPr lang="en-US" altLang="zh-TW" dirty="0"/>
              <a:t> </a:t>
            </a:r>
            <a:r>
              <a:rPr lang="en-US" altLang="zh-TW" dirty="0" err="1"/>
              <a:t>ubuntu</a:t>
            </a:r>
            <a:r>
              <a:rPr lang="en-US" altLang="zh-TW" dirty="0"/>
              <a:t> </a:t>
            </a:r>
            <a:r>
              <a:rPr lang="en-US" altLang="zh-TW" dirty="0" smtClean="0"/>
              <a:t>bash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接著輸入</a:t>
            </a:r>
            <a:r>
              <a:rPr lang="en-US" altLang="zh-TW" dirty="0" smtClean="0"/>
              <a:t>exit </a:t>
            </a:r>
            <a:r>
              <a:rPr lang="zh-TW" altLang="en-US" dirty="0" smtClean="0"/>
              <a:t>離開</a:t>
            </a:r>
            <a:r>
              <a:rPr lang="en-US" altLang="zh-TW" dirty="0" err="1" smtClean="0"/>
              <a:t>ubuntu</a:t>
            </a:r>
            <a:r>
              <a:rPr lang="zh-TW" altLang="en-US" dirty="0" smtClean="0"/>
              <a:t>之後</a:t>
            </a:r>
            <a:r>
              <a:rPr lang="en-US" altLang="zh-TW" dirty="0" smtClean="0"/>
              <a:t>(</a:t>
            </a:r>
            <a:r>
              <a:rPr lang="zh-TW" altLang="en-US" dirty="0" smtClean="0"/>
              <a:t>直接關掉</a:t>
            </a:r>
            <a:r>
              <a:rPr lang="en-US" altLang="zh-TW" dirty="0" err="1" smtClean="0"/>
              <a:t>cmd</a:t>
            </a:r>
            <a:r>
              <a:rPr lang="zh-TW" altLang="en-US" dirty="0" smtClean="0"/>
              <a:t>沒用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，輸入</a:t>
            </a:r>
            <a:r>
              <a:rPr lang="en-US" altLang="zh-TW" dirty="0" err="1" smtClean="0"/>
              <a:t>docler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ps</a:t>
            </a:r>
            <a:r>
              <a:rPr lang="en-US" altLang="zh-TW" dirty="0" smtClean="0"/>
              <a:t> </a:t>
            </a:r>
            <a:r>
              <a:rPr lang="zh-TW" altLang="en-US" dirty="0" smtClean="0"/>
              <a:t>會看到</a:t>
            </a:r>
            <a:r>
              <a:rPr lang="en-US" altLang="zh-TW" dirty="0" err="1" smtClean="0"/>
              <a:t>ubuntu</a:t>
            </a:r>
            <a:r>
              <a:rPr lang="zh-TW" altLang="en-US" dirty="0" smtClean="0"/>
              <a:t>容器也跟著刪除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717" y="2025106"/>
            <a:ext cx="4542857" cy="42857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406" y="2673893"/>
            <a:ext cx="6076190" cy="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334" y="263371"/>
            <a:ext cx="8596668" cy="1320800"/>
          </a:xfrm>
        </p:spPr>
        <p:txBody>
          <a:bodyPr/>
          <a:lstStyle/>
          <a:p>
            <a:r>
              <a:rPr lang="en-US" altLang="zh-TW" dirty="0" smtClean="0"/>
              <a:t>Docker </a:t>
            </a:r>
            <a:r>
              <a:rPr lang="en-US" altLang="zh-TW" dirty="0"/>
              <a:t>run --</a:t>
            </a:r>
            <a:r>
              <a:rPr lang="en-US" altLang="zh-TW" dirty="0" err="1" smtClean="0"/>
              <a:t>rm</a:t>
            </a:r>
            <a:r>
              <a:rPr lang="zh-TW" altLang="en-US" dirty="0"/>
              <a:t>指令運用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468131"/>
            <a:ext cx="8596668" cy="4222456"/>
          </a:xfrm>
        </p:spPr>
        <p:txBody>
          <a:bodyPr/>
          <a:lstStyle/>
          <a:p>
            <a:r>
              <a:rPr lang="zh-TW" altLang="en-US" dirty="0" smtClean="0"/>
              <a:t>輸入</a:t>
            </a:r>
            <a:r>
              <a:rPr lang="en-US" altLang="zh-TW" dirty="0" err="1"/>
              <a:t>docker</a:t>
            </a:r>
            <a:r>
              <a:rPr lang="en-US" altLang="zh-TW" dirty="0"/>
              <a:t> run --</a:t>
            </a:r>
            <a:r>
              <a:rPr lang="en-US" altLang="zh-TW" dirty="0" err="1"/>
              <a:t>rm</a:t>
            </a:r>
            <a:r>
              <a:rPr lang="en-US" altLang="zh-TW" dirty="0"/>
              <a:t> alpine echo "Hello World"</a:t>
            </a:r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zh-TW" altLang="en-US" dirty="0" smtClean="0"/>
              <a:t>會出現後容器立即消失</a:t>
            </a:r>
            <a:endParaRPr lang="en-US" altLang="zh-TW" dirty="0" smtClean="0"/>
          </a:p>
          <a:p>
            <a:r>
              <a:rPr lang="zh-TW" altLang="en-US" dirty="0" smtClean="0"/>
              <a:t>原本</a:t>
            </a:r>
            <a:r>
              <a:rPr lang="en-US" altLang="zh-TW" dirty="0" err="1" smtClean="0"/>
              <a:t>docker</a:t>
            </a:r>
            <a:r>
              <a:rPr lang="en-US" altLang="zh-TW" dirty="0" smtClean="0"/>
              <a:t> run</a:t>
            </a:r>
            <a:r>
              <a:rPr lang="zh-TW" altLang="en-US" dirty="0" smtClean="0"/>
              <a:t>學到的是最後一個參數是</a:t>
            </a:r>
            <a:r>
              <a:rPr lang="en-US" altLang="zh-TW" dirty="0" smtClean="0"/>
              <a:t>image</a:t>
            </a:r>
            <a:r>
              <a:rPr lang="zh-TW" altLang="en-US" dirty="0" smtClean="0"/>
              <a:t>的名稱，</a:t>
            </a:r>
            <a:endParaRPr lang="en-US" altLang="zh-TW" dirty="0" smtClean="0"/>
          </a:p>
          <a:p>
            <a:pPr marL="400050" lvl="1" indent="0">
              <a:buNone/>
            </a:pPr>
            <a:r>
              <a:rPr lang="zh-TW" altLang="en-US" dirty="0" smtClean="0"/>
              <a:t>但這邊可以看到</a:t>
            </a:r>
            <a:r>
              <a:rPr lang="en-US" altLang="zh-TW" dirty="0" err="1" smtClean="0"/>
              <a:t>ubuntu</a:t>
            </a:r>
            <a:r>
              <a:rPr lang="zh-TW" altLang="en-US" dirty="0" smtClean="0"/>
              <a:t> 和</a:t>
            </a:r>
            <a:r>
              <a:rPr lang="en-US" altLang="zh-TW" dirty="0" smtClean="0"/>
              <a:t>alpine</a:t>
            </a:r>
            <a:r>
              <a:rPr lang="zh-TW" altLang="en-US" dirty="0" smtClean="0"/>
              <a:t> 是</a:t>
            </a:r>
            <a:r>
              <a:rPr lang="en-US" altLang="zh-TW" dirty="0" smtClean="0"/>
              <a:t>image</a:t>
            </a:r>
            <a:r>
              <a:rPr lang="zh-TW" altLang="en-US" dirty="0" smtClean="0"/>
              <a:t>名稱 但是後面好像還有接東西</a:t>
            </a:r>
            <a:endParaRPr lang="en-US" altLang="zh-TW" dirty="0"/>
          </a:p>
          <a:p>
            <a:pPr marL="400050" lvl="1" indent="0">
              <a:buNone/>
            </a:pPr>
            <a:r>
              <a:rPr lang="en-US" altLang="zh-TW" dirty="0" smtClean="0"/>
              <a:t>bash</a:t>
            </a:r>
            <a:r>
              <a:rPr lang="zh-TW" altLang="en-US" dirty="0" smtClean="0"/>
              <a:t> 或是 </a:t>
            </a:r>
            <a:r>
              <a:rPr lang="en-US" altLang="zh-TW" dirty="0"/>
              <a:t>echo </a:t>
            </a:r>
            <a:r>
              <a:rPr lang="en-US" altLang="zh-TW" dirty="0" smtClean="0"/>
              <a:t>“Hello World”</a:t>
            </a:r>
            <a:r>
              <a:rPr lang="zh-TW" altLang="en-US" dirty="0" smtClean="0"/>
              <a:t>，接在</a:t>
            </a:r>
            <a:r>
              <a:rPr lang="en-US" altLang="zh-TW" dirty="0" smtClean="0"/>
              <a:t>image</a:t>
            </a:r>
            <a:r>
              <a:rPr lang="zh-TW" altLang="en-US" dirty="0" smtClean="0"/>
              <a:t>後面的叫做</a:t>
            </a:r>
            <a:r>
              <a:rPr lang="en-US" altLang="zh-TW" dirty="0" smtClean="0"/>
              <a:t>command</a:t>
            </a:r>
            <a:r>
              <a:rPr lang="zh-TW" altLang="en-US" dirty="0" smtClean="0"/>
              <a:t>指令</a:t>
            </a:r>
            <a:endParaRPr lang="en-US" altLang="zh-TW" dirty="0" smtClean="0"/>
          </a:p>
          <a:p>
            <a:pPr marL="400050" lvl="1" indent="0">
              <a:buNone/>
            </a:pPr>
            <a:r>
              <a:rPr lang="zh-TW" altLang="en-US" dirty="0"/>
              <a:t>可以</a:t>
            </a:r>
            <a:r>
              <a:rPr lang="zh-TW" altLang="en-US" dirty="0" smtClean="0"/>
              <a:t>下</a:t>
            </a:r>
            <a:r>
              <a:rPr lang="en-US" altLang="zh-TW" dirty="0" err="1" smtClean="0"/>
              <a:t>linux</a:t>
            </a:r>
            <a:r>
              <a:rPr lang="zh-TW" altLang="en-US" dirty="0" smtClean="0"/>
              <a:t>的指令</a:t>
            </a:r>
            <a:endParaRPr lang="en-US" altLang="zh-TW" dirty="0"/>
          </a:p>
          <a:p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180" y="2177964"/>
            <a:ext cx="4390476" cy="3714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實務練習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TW" dirty="0"/>
              <a:t>把之前</a:t>
            </a:r>
            <a:r>
              <a:rPr lang="en-US" altLang="zh-TW" dirty="0"/>
              <a:t>python</a:t>
            </a:r>
            <a:r>
              <a:rPr lang="zh-TW" altLang="en-US" dirty="0"/>
              <a:t>教過的專案打包成</a:t>
            </a:r>
            <a:r>
              <a:rPr lang="en-US" altLang="zh-TW" dirty="0" smtClean="0"/>
              <a:t>image</a:t>
            </a:r>
            <a:endParaRPr lang="en-US" altLang="zh-TW" dirty="0" smtClean="0"/>
          </a:p>
          <a:p>
            <a:pPr algn="l"/>
            <a:r>
              <a:rPr lang="zh-TW" altLang="en-US" dirty="0" smtClean="0"/>
              <a:t>把</a:t>
            </a:r>
            <a:r>
              <a:rPr lang="en-US" altLang="zh-TW" dirty="0" err="1" smtClean="0"/>
              <a:t>Dockerfile</a:t>
            </a:r>
            <a:r>
              <a:rPr lang="zh-TW" altLang="en-US" dirty="0" smtClean="0"/>
              <a:t> </a:t>
            </a:r>
            <a:r>
              <a:rPr lang="en-US" altLang="zh-TW" dirty="0" smtClean="0"/>
              <a:t>CMD</a:t>
            </a:r>
            <a:r>
              <a:rPr lang="zh-TW" altLang="en-US" dirty="0" smtClean="0"/>
              <a:t>移除 ， 改成在</a:t>
            </a:r>
            <a:r>
              <a:rPr lang="en-US" altLang="zh-TW" dirty="0" err="1" smtClean="0"/>
              <a:t>docker</a:t>
            </a:r>
            <a:r>
              <a:rPr lang="en-US" altLang="zh-TW" dirty="0" smtClean="0"/>
              <a:t> run</a:t>
            </a:r>
            <a:r>
              <a:rPr lang="zh-TW" altLang="en-US" dirty="0" smtClean="0"/>
              <a:t> 後面加上</a:t>
            </a:r>
            <a:r>
              <a:rPr lang="en-US" altLang="zh-TW" dirty="0" smtClean="0"/>
              <a:t>command </a:t>
            </a:r>
            <a:r>
              <a:rPr lang="zh-TW" altLang="en-US" dirty="0" smtClean="0"/>
              <a:t> ，</a:t>
            </a:r>
            <a:r>
              <a:rPr lang="en-US" altLang="zh-TW" dirty="0" smtClean="0"/>
              <a:t>python app.py</a:t>
            </a:r>
            <a:endParaRPr lang="en-US" altLang="zh-TW" dirty="0"/>
          </a:p>
          <a:p>
            <a:pPr algn="l"/>
            <a:r>
              <a:rPr lang="zh-TW" altLang="en-US" dirty="0"/>
              <a:t>學會</a:t>
            </a:r>
            <a:r>
              <a:rPr lang="en-US" altLang="zh-TW" dirty="0" err="1"/>
              <a:t>docker</a:t>
            </a:r>
            <a:r>
              <a:rPr lang="en-US" altLang="zh-TW" dirty="0"/>
              <a:t> run --</a:t>
            </a:r>
            <a:r>
              <a:rPr lang="en-US" altLang="zh-TW" dirty="0" err="1"/>
              <a:t>rm</a:t>
            </a:r>
            <a:r>
              <a:rPr lang="en-US" altLang="zh-TW" dirty="0"/>
              <a:t> </a:t>
            </a:r>
            <a:r>
              <a:rPr lang="zh-TW" altLang="en-US" dirty="0"/>
              <a:t>一次性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綜合應用範例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本單元將提供一個實際的 Dockerfile 範例，展示如何構建一個簡單的 Python Web 應用。</a:t>
            </a:r>
          </a:p>
          <a:p>
            <a:pPr algn="l"/>
            <a:r>
              <a:t>此範例將涵蓋基本指令的使用，如 FROM、RUN、COPY、CMD，並演示其相互作用。</a:t>
            </a:r>
          </a:p>
          <a:p>
            <a:pPr algn="l"/>
            <a:r>
              <a:t>透過此範例，學員將能夠理解 Dockerfile 的運作邏輯，並能夠根據需求進行修改。</a:t>
            </a:r>
          </a:p>
          <a:p>
            <a:pPr algn="l"/>
            <a:r>
              <a:t>實際應用中的 Dockerfile 將幫助開發者快速構建和部署應用，提升開發效率。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下載位置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https://github.com/coolyuoo/ClassHello </a:t>
            </a:r>
            <a:r>
              <a:rPr lang="zh-TW" dirty="0"/>
              <a:t>練習用</a:t>
            </a:r>
            <a:r>
              <a:rPr lang="en-US" altLang="zh-TW" dirty="0"/>
              <a:t>python</a:t>
            </a:r>
            <a:r>
              <a:rPr lang="zh-TW" altLang="en-US" dirty="0"/>
              <a:t>專案</a:t>
            </a:r>
            <a:endParaRPr lang="zh-TW" altLang="en-US" dirty="0"/>
          </a:p>
          <a:p>
            <a:r>
              <a:rPr dirty="0">
                <a:sym typeface="+mn-ea"/>
              </a:rPr>
              <a:t>https://github.com/coolyuoo/PyWithMySql </a:t>
            </a:r>
            <a:r>
              <a:rPr lang="zh-TW" dirty="0">
                <a:sym typeface="+mn-ea"/>
              </a:rPr>
              <a:t>練習用</a:t>
            </a:r>
            <a:r>
              <a:rPr lang="en-US" altLang="zh-TW" dirty="0">
                <a:sym typeface="+mn-ea"/>
              </a:rPr>
              <a:t>python</a:t>
            </a:r>
            <a:r>
              <a:rPr lang="zh-TW" altLang="en-US" dirty="0">
                <a:sym typeface="+mn-ea"/>
              </a:rPr>
              <a:t>專案</a:t>
            </a:r>
            <a:endParaRPr lang="zh-TW" altLang="en-US" dirty="0"/>
          </a:p>
          <a:p>
            <a:r>
              <a:rPr lang="en-US" altLang="zh-TW" dirty="0" err="1">
                <a:sym typeface="+mn-ea"/>
              </a:rPr>
              <a:t>docker</a:t>
            </a:r>
            <a:r>
              <a:rPr lang="en-US" altLang="zh-TW" dirty="0">
                <a:sym typeface="+mn-ea"/>
              </a:rPr>
              <a:t> pull </a:t>
            </a:r>
            <a:r>
              <a:rPr lang="en-US" altLang="zh-TW" dirty="0" err="1">
                <a:sym typeface="+mn-ea"/>
              </a:rPr>
              <a:t>mysql</a:t>
            </a:r>
            <a:r>
              <a:rPr lang="zh-TW" altLang="en-US" dirty="0">
                <a:sym typeface="+mn-ea"/>
              </a:rPr>
              <a:t>：</a:t>
            </a:r>
            <a:r>
              <a:rPr lang="en-US" altLang="zh-TW" dirty="0" smtClean="0">
                <a:sym typeface="+mn-ea"/>
              </a:rPr>
              <a:t>8.0</a:t>
            </a:r>
            <a:endParaRPr lang="zh-TW" altLang="en-US" dirty="0"/>
          </a:p>
          <a:p>
            <a:endParaRPr lang="zh-TW" altLang="en-US" dirty="0"/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</a:t>
            </a:r>
            <a:r>
              <a:rPr lang="en-US" altLang="zh-TW" dirty="0" err="1">
                <a:solidFill>
                  <a:schemeClr val="accent1"/>
                </a:solidFill>
                <a:sym typeface="+mn-ea"/>
              </a:rPr>
              <a:t>volume</a:t>
            </a:r>
            <a:r>
              <a:rPr lang="zh-TW" altLang="en-US" dirty="0" err="1">
                <a:solidFill>
                  <a:schemeClr val="accent1"/>
                </a:solidFill>
                <a:sym typeface="+mn-ea"/>
              </a:rPr>
              <a:t>詳解</a:t>
            </a:r>
            <a:endParaRPr lang="zh-TW" altLang="en-US" dirty="0" err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1. 為什麼要用 Volume？</a:t>
            </a:r>
            <a:endParaRPr lang="zh-TW" altLang="en-US"/>
          </a:p>
          <a:p>
            <a:r>
              <a:rPr lang="zh-TW" altLang="en-US"/>
              <a:t>容器是「一次性」的，容器刪了資料就沒了。Volume 是 Docker 提供的「持久化儲存」方案，讓資料不會跟著容器一起消失，並且在多容器之間共享資料更安全、可控、可備份。</a:t>
            </a:r>
            <a:endParaRPr lang="zh-TW" altLang="en-US"/>
          </a:p>
          <a:p>
            <a:endParaRPr lang="zh-TW" altLang="en-US"/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</a:t>
            </a:r>
            <a:r>
              <a:rPr lang="en-US" altLang="zh-TW" dirty="0" err="1">
                <a:solidFill>
                  <a:schemeClr val="accent1"/>
                </a:solidFill>
                <a:sym typeface="+mn-ea"/>
              </a:rPr>
              <a:t>volume</a:t>
            </a:r>
            <a:r>
              <a:rPr lang="zh-TW" altLang="en-US" dirty="0" err="1">
                <a:solidFill>
                  <a:schemeClr val="accent1"/>
                </a:solidFill>
                <a:sym typeface="+mn-ea"/>
              </a:rPr>
              <a:t>詳解</a:t>
            </a:r>
            <a:endParaRPr lang="zh-TW" altLang="en-US" dirty="0" err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我們之前用的都是</a:t>
            </a:r>
            <a:r>
              <a:rPr lang="en-US" altLang="zh-TW"/>
              <a:t>Bind Mount</a:t>
            </a:r>
            <a:br>
              <a:rPr lang="en-US" altLang="zh-TW"/>
            </a:br>
            <a:r>
              <a:rPr lang="zh-TW" altLang="en-US"/>
              <a:t>宿主與容器的資料夾直接共通</a:t>
            </a:r>
            <a:br>
              <a:rPr lang="zh-TW" altLang="en-US"/>
            </a:br>
            <a:r>
              <a:rPr lang="zh-TW" altLang="en-US"/>
              <a:t>也就是寄件人直接打東西拿給</a:t>
            </a:r>
            <a:br>
              <a:rPr lang="zh-TW" altLang="en-US"/>
            </a:br>
            <a:r>
              <a:rPr lang="zh-TW" altLang="en-US"/>
              <a:t>收件人</a:t>
            </a:r>
            <a:endParaRPr lang="zh-TW" altLang="en-US"/>
          </a:p>
          <a:p>
            <a:endParaRPr lang="zh-TW" altLang="en-US"/>
          </a:p>
          <a:p>
            <a:r>
              <a:rPr lang="zh-TW" altLang="en-US"/>
              <a:t>具名掛載的方式是在容器與宿主</a:t>
            </a:r>
            <a:endParaRPr lang="zh-TW" altLang="en-US"/>
          </a:p>
          <a:p>
            <a:r>
              <a:rPr lang="zh-TW" altLang="en-US"/>
              <a:t>中間再建一個共通資料夾，像是</a:t>
            </a:r>
            <a:endParaRPr lang="zh-TW" altLang="en-US"/>
          </a:p>
          <a:p>
            <a:r>
              <a:rPr lang="zh-TW" altLang="en-US"/>
              <a:t>黑貓一樣貨品集中處</a:t>
            </a:r>
            <a:br>
              <a:rPr lang="zh-TW" altLang="en-US"/>
            </a:br>
            <a:r>
              <a:rPr lang="zh-TW" altLang="en-US"/>
              <a:t>但是如果黑貓燒掉</a:t>
            </a:r>
            <a:r>
              <a:rPr lang="en-US" altLang="zh-TW"/>
              <a:t> </a:t>
            </a:r>
            <a:r>
              <a:rPr lang="zh-TW" altLang="en-US"/>
              <a:t>也都沒了</a:t>
            </a:r>
            <a:endParaRPr lang="zh-TW" altLang="en-US"/>
          </a:p>
          <a:p>
            <a:endParaRPr lang="zh-TW" altLang="en-US"/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 descr="Snipaste_2025-11-06_14-59-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7380" y="1356360"/>
            <a:ext cx="6917055" cy="5278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</a:t>
            </a:r>
            <a:r>
              <a:rPr lang="en-US" altLang="zh-TW" dirty="0" err="1">
                <a:solidFill>
                  <a:schemeClr val="accent1"/>
                </a:solidFill>
                <a:sym typeface="+mn-ea"/>
              </a:rPr>
              <a:t>volume</a:t>
            </a:r>
            <a:r>
              <a:rPr lang="zh-TW" altLang="en-US" dirty="0" err="1">
                <a:solidFill>
                  <a:schemeClr val="accent1"/>
                </a:solidFill>
                <a:sym typeface="+mn-ea"/>
              </a:rPr>
              <a:t>詳解</a:t>
            </a:r>
            <a:endParaRPr lang="zh-TW" altLang="en-US" dirty="0" err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545" y="1598930"/>
            <a:ext cx="8596630" cy="4442460"/>
          </a:xfrm>
        </p:spPr>
        <p:txBody>
          <a:bodyPr/>
          <a:lstStyle/>
          <a:p>
            <a:pPr marL="0" indent="0">
              <a:buNone/>
            </a:pPr>
            <a:r>
              <a:rPr lang="zh-TW"/>
              <a:t>複習一下</a:t>
            </a:r>
            <a:r>
              <a:rPr lang="en-US"/>
              <a:t> </a:t>
            </a:r>
            <a:r>
              <a:rPr lang="zh-TW"/>
              <a:t>我們直接拿之前的</a:t>
            </a:r>
            <a:r>
              <a:rPr lang="en-US" altLang="zh-TW"/>
              <a:t>MYSQL </a:t>
            </a:r>
            <a:r>
              <a:rPr lang="zh-TW" altLang="en-US"/>
              <a:t>容器做測試，這案例我們會建立兩個</a:t>
            </a:r>
            <a:r>
              <a:rPr lang="en-US" altLang="zh-TW"/>
              <a:t>MYSQL</a:t>
            </a:r>
            <a:r>
              <a:rPr lang="zh-TW" altLang="en-US"/>
              <a:t>容器出來</a:t>
            </a:r>
            <a:endParaRPr lang="zh-TW" altLang="en-US"/>
          </a:p>
          <a:p>
            <a:pPr marL="0" indent="0">
              <a:buNone/>
            </a:pPr>
            <a:r>
              <a:rPr lang="en-US" altLang="zh-TW">
                <a:sym typeface="+mn-ea"/>
              </a:rPr>
              <a:t>Bind Mount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重新複習</a:t>
            </a:r>
            <a:r>
              <a:rPr lang="en-US" altLang="zh-TW" dirty="0"/>
              <a:t>MYSQL </a:t>
            </a:r>
            <a:r>
              <a:rPr lang="zh-TW" altLang="en-US" dirty="0"/>
              <a:t>的</a:t>
            </a:r>
            <a:r>
              <a:rPr lang="en-US" altLang="zh-TW" dirty="0"/>
              <a:t>DOCKER</a:t>
            </a:r>
            <a:r>
              <a:rPr lang="zh-TW" altLang="en-US" dirty="0"/>
              <a:t>建立指令</a:t>
            </a:r>
            <a:endParaRPr lang="zh-TW" altLang="en-US" dirty="0"/>
          </a:p>
          <a:p>
            <a:pPr marL="0" indent="0">
              <a:buNone/>
            </a:pPr>
            <a:r>
              <a:rPr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docker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run -d --name </a:t>
            </a:r>
            <a:r>
              <a:rPr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mysql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-container -e MYSQL_ROOT_PASSWORD=root123 -e MYSQL_DATABASE=</a:t>
            </a:r>
            <a:r>
              <a:rPr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testdb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-e MYSQL_USER=</a:t>
            </a:r>
            <a:r>
              <a:rPr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testuser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-e MYSQL_PASSWORD=</a:t>
            </a:r>
            <a:r>
              <a:rPr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testpass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-p 3306：3306 </a:t>
            </a:r>
            <a:r>
              <a:rPr dirty="0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-v 'D：\</a:t>
            </a:r>
            <a:r>
              <a:rPr dirty="0" err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docker</a:t>
            </a:r>
            <a:r>
              <a:rPr dirty="0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\</a:t>
            </a:r>
            <a:r>
              <a:rPr dirty="0" err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mysql</a:t>
            </a:r>
            <a:r>
              <a:rPr dirty="0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：/</a:t>
            </a:r>
            <a:r>
              <a:rPr dirty="0" err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var</a:t>
            </a:r>
            <a:r>
              <a:rPr dirty="0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/lib/</a:t>
            </a:r>
            <a:r>
              <a:rPr dirty="0" err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mysql</a:t>
            </a:r>
            <a:r>
              <a:rPr dirty="0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'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mysql：8.0</a:t>
            </a: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r>
              <a:rPr lang="en-US" altLang="zh-TW" dirty="0">
                <a:effectLst/>
              </a:rPr>
              <a:t>2.</a:t>
            </a:r>
            <a:r>
              <a:rPr lang="zh-TW" altLang="en-US" dirty="0">
                <a:effectLst/>
              </a:rPr>
              <a:t>建立完畢 到宿主機的</a:t>
            </a:r>
            <a:r>
              <a:rPr dirty="0">
                <a:solidFill>
                  <a:schemeClr val="tx1"/>
                </a:solidFill>
                <a:effectLst/>
                <a:sym typeface="+mn-ea"/>
              </a:rPr>
              <a:t>D：\</a:t>
            </a:r>
            <a:r>
              <a:rPr dirty="0" err="1">
                <a:solidFill>
                  <a:schemeClr val="tx1"/>
                </a:solidFill>
                <a:effectLst/>
                <a:sym typeface="+mn-ea"/>
              </a:rPr>
              <a:t>docker</a:t>
            </a:r>
            <a:r>
              <a:rPr dirty="0">
                <a:solidFill>
                  <a:schemeClr val="tx1"/>
                </a:solidFill>
                <a:effectLst/>
                <a:sym typeface="+mn-ea"/>
              </a:rPr>
              <a:t>\</a:t>
            </a:r>
            <a:r>
              <a:rPr dirty="0" err="1">
                <a:solidFill>
                  <a:schemeClr val="tx1"/>
                </a:solidFill>
                <a:effectLst/>
                <a:sym typeface="+mn-ea"/>
              </a:rPr>
              <a:t>mysql </a:t>
            </a:r>
            <a:r>
              <a:rPr lang="zh-TW" dirty="0" err="1">
                <a:solidFill>
                  <a:schemeClr val="tx1"/>
                </a:solidFill>
                <a:effectLst/>
                <a:sym typeface="+mn-ea"/>
              </a:rPr>
              <a:t>會看到</a:t>
            </a:r>
            <a:r>
              <a:rPr lang="en-US" altLang="zh-TW" dirty="0" err="1">
                <a:solidFill>
                  <a:schemeClr val="tx1"/>
                </a:solidFill>
                <a:effectLst/>
                <a:sym typeface="+mn-ea"/>
              </a:rPr>
              <a:t>MYSQL</a:t>
            </a:r>
            <a:r>
              <a:rPr lang="zh-TW" altLang="en-US" dirty="0" err="1">
                <a:solidFill>
                  <a:schemeClr val="tx1"/>
                </a:solidFill>
                <a:effectLst/>
                <a:sym typeface="+mn-ea"/>
              </a:rPr>
              <a:t>的設定檔都在裡面</a:t>
            </a:r>
            <a:br>
              <a:rPr lang="zh-TW" altLang="en-US" dirty="0" err="1">
                <a:solidFill>
                  <a:schemeClr val="tx1"/>
                </a:solidFill>
                <a:effectLst/>
                <a:sym typeface="+mn-ea"/>
              </a:rPr>
            </a:br>
            <a:r>
              <a:rPr lang="zh-TW" altLang="en-US" dirty="0" err="1">
                <a:solidFill>
                  <a:schemeClr val="tx1"/>
                </a:solidFill>
                <a:effectLst/>
                <a:sym typeface="+mn-ea"/>
              </a:rPr>
              <a:t>3</a:t>
            </a:r>
            <a:r>
              <a:rPr lang="en-US" altLang="zh-TW" dirty="0" err="1">
                <a:solidFill>
                  <a:schemeClr val="tx1"/>
                </a:solidFill>
                <a:effectLst/>
                <a:sym typeface="+mn-ea"/>
              </a:rPr>
              <a:t>.</a:t>
            </a:r>
            <a:r>
              <a:rPr lang="zh-TW" altLang="en-US" dirty="0" err="1">
                <a:solidFill>
                  <a:schemeClr val="tx1"/>
                </a:solidFill>
                <a:effectLst/>
                <a:sym typeface="+mn-ea"/>
              </a:rPr>
              <a:t>使用</a:t>
            </a:r>
            <a:r>
              <a:rPr lang="en-US" altLang="zh-TW" dirty="0" err="1">
                <a:solidFill>
                  <a:schemeClr val="tx1"/>
                </a:solidFill>
                <a:effectLst/>
                <a:sym typeface="+mn-ea"/>
              </a:rPr>
              <a:t>docker exec -it [cntainername] sh </a:t>
            </a:r>
            <a:r>
              <a:rPr lang="zh-TW" altLang="en-US" dirty="0" err="1">
                <a:solidFill>
                  <a:schemeClr val="tx1"/>
                </a:solidFill>
                <a:effectLst/>
                <a:sym typeface="+mn-ea"/>
              </a:rPr>
              <a:t>進入到</a:t>
            </a:r>
            <a:r>
              <a:rPr lang="en-US" altLang="zh-TW" dirty="0" err="1">
                <a:solidFill>
                  <a:schemeClr val="tx1"/>
                </a:solidFill>
                <a:effectLst/>
                <a:sym typeface="+mn-ea"/>
              </a:rPr>
              <a:t>mysql</a:t>
            </a:r>
            <a:r>
              <a:rPr lang="zh-TW" altLang="en-US" dirty="0" err="1">
                <a:solidFill>
                  <a:schemeClr val="tx1"/>
                </a:solidFill>
                <a:effectLst/>
                <a:sym typeface="+mn-ea"/>
              </a:rPr>
              <a:t>容器內部的</a:t>
            </a:r>
            <a:r>
              <a:rPr dirty="0">
                <a:solidFill>
                  <a:schemeClr val="tx1"/>
                </a:solidFill>
                <a:effectLst/>
                <a:sym typeface="+mn-ea"/>
              </a:rPr>
              <a:t>/</a:t>
            </a:r>
            <a:r>
              <a:rPr dirty="0" err="1">
                <a:solidFill>
                  <a:schemeClr val="tx1"/>
                </a:solidFill>
                <a:effectLst/>
                <a:sym typeface="+mn-ea"/>
              </a:rPr>
              <a:t>var</a:t>
            </a:r>
            <a:r>
              <a:rPr dirty="0">
                <a:solidFill>
                  <a:schemeClr val="tx1"/>
                </a:solidFill>
                <a:effectLst/>
                <a:sym typeface="+mn-ea"/>
              </a:rPr>
              <a:t>/lib/</a:t>
            </a:r>
            <a:r>
              <a:rPr dirty="0" err="1">
                <a:solidFill>
                  <a:schemeClr val="tx1"/>
                </a:solidFill>
                <a:effectLst/>
                <a:sym typeface="+mn-ea"/>
              </a:rPr>
              <a:t>mysql</a:t>
            </a:r>
            <a:br>
              <a:rPr dirty="0" err="1">
                <a:solidFill>
                  <a:schemeClr val="tx1"/>
                </a:solidFill>
                <a:effectLst/>
                <a:sym typeface="+mn-ea"/>
              </a:rPr>
            </a:br>
            <a:r>
              <a:rPr lang="en-US" altLang="zh-TW" dirty="0" err="1">
                <a:solidFill>
                  <a:schemeClr val="tx1"/>
                </a:solidFill>
                <a:effectLst/>
                <a:sym typeface="+mn-ea"/>
              </a:rPr>
              <a:t>4.</a:t>
            </a:r>
            <a:r>
              <a:rPr lang="zh-TW" altLang="en-US" dirty="0" err="1">
                <a:solidFill>
                  <a:schemeClr val="tx1"/>
                </a:solidFill>
                <a:effectLst/>
                <a:sym typeface="+mn-ea"/>
              </a:rPr>
              <a:t>在該資料夾建立一筆</a:t>
            </a:r>
            <a:r>
              <a:rPr lang="en-US" altLang="zh-TW" dirty="0" err="1">
                <a:solidFill>
                  <a:schemeClr val="tx1"/>
                </a:solidFill>
                <a:effectLst/>
                <a:sym typeface="+mn-ea"/>
              </a:rPr>
              <a:t>test123</a:t>
            </a:r>
            <a:r>
              <a:rPr lang="zh-TW" altLang="en-US" dirty="0" err="1">
                <a:solidFill>
                  <a:schemeClr val="tx1"/>
                </a:solidFill>
                <a:effectLst/>
                <a:sym typeface="+mn-ea"/>
              </a:rPr>
              <a:t>的檔案</a:t>
            </a:r>
            <a:endParaRPr lang="zh-TW" altLang="en-US" dirty="0" err="1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en-US" altLang="zh-TW" dirty="0" err="1">
                <a:solidFill>
                  <a:schemeClr val="tx1"/>
                </a:solidFill>
                <a:effectLst/>
                <a:sym typeface="+mn-ea"/>
              </a:rPr>
              <a:t>5.</a:t>
            </a:r>
            <a:r>
              <a:rPr lang="zh-TW" altLang="en-US" dirty="0" err="1">
                <a:solidFill>
                  <a:schemeClr val="tx1"/>
                </a:solidFill>
                <a:effectLst/>
                <a:sym typeface="+mn-ea"/>
              </a:rPr>
              <a:t>回到</a:t>
            </a:r>
            <a:r>
              <a:rPr dirty="0">
                <a:solidFill>
                  <a:schemeClr val="tx1"/>
                </a:solidFill>
                <a:effectLst/>
                <a:sym typeface="+mn-ea"/>
              </a:rPr>
              <a:t>D：\</a:t>
            </a:r>
            <a:r>
              <a:rPr dirty="0" err="1">
                <a:solidFill>
                  <a:schemeClr val="tx1"/>
                </a:solidFill>
                <a:effectLst/>
                <a:sym typeface="+mn-ea"/>
              </a:rPr>
              <a:t>docker</a:t>
            </a:r>
            <a:r>
              <a:rPr dirty="0">
                <a:solidFill>
                  <a:schemeClr val="tx1"/>
                </a:solidFill>
                <a:effectLst/>
                <a:sym typeface="+mn-ea"/>
              </a:rPr>
              <a:t>\</a:t>
            </a:r>
            <a:r>
              <a:rPr dirty="0" err="1">
                <a:solidFill>
                  <a:schemeClr val="tx1"/>
                </a:solidFill>
                <a:effectLst/>
                <a:sym typeface="+mn-ea"/>
              </a:rPr>
              <a:t>mysql </a:t>
            </a:r>
            <a:r>
              <a:rPr lang="zh-TW" dirty="0" err="1">
                <a:solidFill>
                  <a:schemeClr val="tx1"/>
                </a:solidFill>
                <a:effectLst/>
                <a:sym typeface="+mn-ea"/>
              </a:rPr>
              <a:t>看到這筆</a:t>
            </a:r>
            <a:r>
              <a:rPr lang="en-US" altLang="zh-TW" dirty="0" err="1">
                <a:solidFill>
                  <a:schemeClr val="tx1"/>
                </a:solidFill>
                <a:effectLst/>
                <a:sym typeface="+mn-ea"/>
              </a:rPr>
              <a:t>test123</a:t>
            </a:r>
            <a:r>
              <a:rPr lang="zh-TW" altLang="en-US" dirty="0" err="1">
                <a:solidFill>
                  <a:schemeClr val="tx1"/>
                </a:solidFill>
                <a:effectLst/>
                <a:sym typeface="+mn-ea"/>
              </a:rPr>
              <a:t>的檔案</a:t>
            </a:r>
            <a:endParaRPr lang="zh-TW" altLang="en-US" dirty="0" err="1">
              <a:solidFill>
                <a:schemeClr val="tx1"/>
              </a:solidFill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594" y="149860"/>
            <a:ext cx="8596668" cy="1320800"/>
          </a:xfrm>
        </p:spPr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</a:t>
            </a:r>
            <a:r>
              <a:rPr lang="en-US" altLang="zh-TW" dirty="0" err="1">
                <a:solidFill>
                  <a:schemeClr val="accent1"/>
                </a:solidFill>
                <a:sym typeface="+mn-ea"/>
              </a:rPr>
              <a:t>volume</a:t>
            </a:r>
            <a:r>
              <a:rPr lang="zh-TW" altLang="en-US" dirty="0" err="1">
                <a:solidFill>
                  <a:schemeClr val="accent1"/>
                </a:solidFill>
                <a:sym typeface="+mn-ea"/>
              </a:rPr>
              <a:t>詳解</a:t>
            </a:r>
            <a:endParaRPr lang="zh-TW" altLang="en-US" dirty="0" err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25805" y="995680"/>
            <a:ext cx="8596630" cy="4442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>
                <a:sym typeface="+mn-ea"/>
              </a:rPr>
              <a:t>具名掛載 </a:t>
            </a:r>
            <a:endParaRPr lang="zh-TW" altLang="en-US">
              <a:sym typeface="+mn-ea"/>
            </a:endParaRPr>
          </a:p>
          <a:p>
            <a:pPr marL="0" indent="0">
              <a:buNone/>
            </a:pPr>
            <a:r>
              <a:rPr lang="en-US" altLang="zh-TW">
                <a:sym typeface="+mn-ea"/>
              </a:rPr>
              <a:t>1.docker volume ls </a:t>
            </a:r>
            <a:r>
              <a:rPr lang="zh-TW" altLang="en-US">
                <a:sym typeface="+mn-ea"/>
              </a:rPr>
              <a:t>查看目前所有的掛載</a:t>
            </a:r>
            <a:endParaRPr lang="zh-TW" altLang="en-US">
              <a:sym typeface="+mn-ea"/>
            </a:endParaRPr>
          </a:p>
          <a:p>
            <a:pPr marL="0" indent="0">
              <a:buNone/>
            </a:pPr>
            <a:r>
              <a:rPr lang="en-US" altLang="zh-TW">
                <a:sym typeface="+mn-ea"/>
              </a:rPr>
              <a:t>2.docker volume create </a:t>
            </a:r>
            <a:r>
              <a:rPr lang="en-US" altLang="zh-TW">
                <a:solidFill>
                  <a:srgbClr val="00B0F0"/>
                </a:solidFill>
                <a:sym typeface="+mn-ea"/>
              </a:rPr>
              <a:t>mydata </a:t>
            </a:r>
            <a:r>
              <a:rPr lang="zh-TW" altLang="en-US">
                <a:sym typeface="+mn-ea"/>
              </a:rPr>
              <a:t>建立新的掛載 </a:t>
            </a:r>
            <a:endParaRPr lang="zh-TW" altLang="en-US">
              <a:sym typeface="+mn-ea"/>
            </a:endParaRPr>
          </a:p>
          <a:p>
            <a:pPr marL="0" indent="0">
              <a:buNone/>
            </a:pPr>
            <a:r>
              <a:rPr lang="en-US" altLang="zh-TW">
                <a:sym typeface="+mn-ea"/>
              </a:rPr>
              <a:t>3.docker volume ls </a:t>
            </a:r>
            <a:r>
              <a:rPr lang="zh-TW" altLang="en-US">
                <a:sym typeface="+mn-ea"/>
              </a:rPr>
              <a:t>查看新建的有存在</a:t>
            </a:r>
            <a:endParaRPr lang="zh-TW" altLang="en-US">
              <a:sym typeface="+mn-ea"/>
            </a:endParaRPr>
          </a:p>
          <a:p>
            <a:pPr marL="0" indent="0">
              <a:buNone/>
            </a:pPr>
            <a:endParaRPr lang="zh-TW" altLang="en-US">
              <a:sym typeface="+mn-ea"/>
            </a:endParaRPr>
          </a:p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修改一下</a:t>
            </a:r>
            <a:r>
              <a:rPr lang="en-US" altLang="zh-TW" dirty="0"/>
              <a:t>MYSQL </a:t>
            </a:r>
            <a:r>
              <a:rPr lang="zh-TW" altLang="en-US" dirty="0"/>
              <a:t>的</a:t>
            </a:r>
            <a:r>
              <a:rPr lang="en-US" altLang="zh-TW" dirty="0"/>
              <a:t>DOCKER</a:t>
            </a:r>
            <a:r>
              <a:rPr lang="zh-TW" altLang="en-US" dirty="0"/>
              <a:t>建立指令</a:t>
            </a:r>
            <a:endParaRPr lang="zh-TW" altLang="en-US" dirty="0"/>
          </a:p>
          <a:p>
            <a:pPr marL="0" indent="0">
              <a:buNone/>
            </a:pPr>
            <a:r>
              <a:rPr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docker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run -d --name </a:t>
            </a:r>
            <a:r>
              <a:rPr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mysql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-container -e MYSQL_ROOT_PASSWORD=root123 -e MYSQL_DATABASE=</a:t>
            </a:r>
            <a:r>
              <a:rPr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testdb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-e MYSQL_USER=</a:t>
            </a:r>
            <a:r>
              <a:rPr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testuser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-e MYSQL_PASSWORD=</a:t>
            </a:r>
            <a:r>
              <a:rPr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testpass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-p </a:t>
            </a:r>
            <a:r>
              <a:rPr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330</a:t>
            </a:r>
            <a:r>
              <a:rPr lang="en-US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7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：3306 </a:t>
            </a:r>
            <a:r>
              <a:rPr dirty="0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-v </a:t>
            </a:r>
            <a:r>
              <a:rPr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'</a:t>
            </a:r>
            <a:r>
              <a:rPr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mydata</a:t>
            </a:r>
            <a:r>
              <a:rPr dirty="0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：/</a:t>
            </a:r>
            <a:r>
              <a:rPr dirty="0" err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var</a:t>
            </a:r>
            <a:r>
              <a:rPr dirty="0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/lib/</a:t>
            </a:r>
            <a:r>
              <a:rPr dirty="0" err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mysql</a:t>
            </a:r>
            <a:r>
              <a:rPr dirty="0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'</a:t>
            </a:r>
            <a:r>
              <a:rPr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mysql：8.0</a:t>
            </a: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r>
              <a:rPr lang="en-US" altLang="zh-TW" dirty="0">
                <a:effectLst/>
              </a:rPr>
              <a:t>2.</a:t>
            </a:r>
            <a:r>
              <a:rPr lang="zh-TW" altLang="en-US" dirty="0">
                <a:effectLst/>
              </a:rPr>
              <a:t>建立完畢 使用</a:t>
            </a:r>
            <a:r>
              <a:rPr lang="en-US" altLang="zh-TW" dirty="0">
                <a:effectLst/>
              </a:rPr>
              <a:t>dockcer desktop</a:t>
            </a:r>
            <a:r>
              <a:rPr lang="zh-TW" altLang="en-US" dirty="0">
                <a:effectLst/>
              </a:rPr>
              <a:t>查看</a:t>
            </a:r>
            <a:r>
              <a:rPr lang="en-US" altLang="zh-TW" dirty="0">
                <a:effectLst/>
              </a:rPr>
              <a:t>volume</a:t>
            </a:r>
            <a:r>
              <a:rPr lang="zh-TW" altLang="en-US" dirty="0">
                <a:effectLst/>
              </a:rPr>
              <a:t>確認存在</a:t>
            </a:r>
            <a:endParaRPr lang="zh-TW" altLang="en-US" dirty="0">
              <a:effectLst/>
            </a:endParaRPr>
          </a:p>
        </p:txBody>
      </p:sp>
      <p:pic>
        <p:nvPicPr>
          <p:cNvPr id="4" name="圖片 3" descr="messageImage_17624149617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165" y="4060825"/>
            <a:ext cx="5565775" cy="2686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594" y="149860"/>
            <a:ext cx="8596668" cy="1320800"/>
          </a:xfrm>
        </p:spPr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</a:t>
            </a:r>
            <a:r>
              <a:rPr lang="en-US" altLang="zh-TW" dirty="0" err="1">
                <a:solidFill>
                  <a:schemeClr val="accent1"/>
                </a:solidFill>
                <a:sym typeface="+mn-ea"/>
              </a:rPr>
              <a:t>volume</a:t>
            </a:r>
            <a:r>
              <a:rPr lang="zh-TW" altLang="en-US" dirty="0" err="1">
                <a:solidFill>
                  <a:schemeClr val="accent1"/>
                </a:solidFill>
                <a:sym typeface="+mn-ea"/>
              </a:rPr>
              <a:t>詳解</a:t>
            </a:r>
            <a:endParaRPr lang="zh-TW" altLang="en-US" dirty="0" err="1">
              <a:solidFill>
                <a:schemeClr val="accent1"/>
              </a:solidFill>
              <a:sym typeface="+mn-ea"/>
            </a:endParaRPr>
          </a:p>
        </p:txBody>
      </p:sp>
      <p:pic>
        <p:nvPicPr>
          <p:cNvPr id="5" name="內容版面配置區 4" descr="messageImage_176241513664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30350" y="995680"/>
            <a:ext cx="9013825" cy="5731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594" y="149860"/>
            <a:ext cx="8596668" cy="1320800"/>
          </a:xfrm>
        </p:spPr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:DevOps</a:t>
            </a:r>
            <a:r>
              <a:rPr lang="zh-TW" altLang="en-US" dirty="0"/>
              <a:t>介紹</a:t>
            </a:r>
            <a:endParaRPr lang="zh-TW" altLang="en-US" dirty="0"/>
          </a:p>
        </p:txBody>
      </p:sp>
      <p:sp>
        <p:nvSpPr>
          <p:cNvPr id="3" name="內容佔位符 2"/>
          <p:cNvSpPr>
            <a:spLocks noGrp="1"/>
          </p:cNvSpPr>
          <p:nvPr>
            <p:ph idx="1"/>
          </p:nvPr>
        </p:nvSpPr>
        <p:spPr>
          <a:xfrm>
            <a:off x="418254" y="1183959"/>
            <a:ext cx="8596668" cy="3880773"/>
          </a:xfrm>
        </p:spPr>
        <p:txBody>
          <a:bodyPr>
            <a:noAutofit/>
          </a:bodyPr>
          <a:lstStyle/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什麼是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DevOps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？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一句話版本：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DevOps =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開發（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Development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）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+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運維（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Operations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）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讓「寫程式的人」和「維運伺服器的人」合作更順，開發、部署、修正都更快、更穩定。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🧩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傳統問題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以前公司會分兩組：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開發組（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Dev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）：寫程式、加功能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運維組（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Ops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）：負責伺服器、上線、監控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結果常常變成：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「我程式在我電腦能跑啊！」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「可是在伺服器上就壞掉啊！」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兩邊各做各的，交接時容易出錯、效率低、修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bug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慢。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🚀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DevOps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想解決什麼？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DevOps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的目標是：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讓開發和運維像一支團隊，一起快速又安全地交付產品。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它透過工具與流程自動化，減少人為失誤、縮短開發到上線的時間。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594" y="149860"/>
            <a:ext cx="8596668" cy="1320800"/>
          </a:xfrm>
        </p:spPr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:DevOps</a:t>
            </a:r>
            <a:r>
              <a:rPr lang="zh-TW" altLang="en-US" dirty="0"/>
              <a:t>介紹</a:t>
            </a:r>
            <a:br>
              <a:rPr lang="zh-TW" altLang="en-US" dirty="0"/>
            </a:br>
            <a:r>
              <a:rPr lang="en-US" altLang="zh-HK" sz="2400" dirty="0">
                <a:solidFill>
                  <a:schemeClr val="accent1"/>
                </a:solidFill>
                <a:uFillTx/>
              </a:rPr>
              <a:t>DevOps vs SRE</a:t>
            </a:r>
            <a:endParaRPr lang="en-US" altLang="zh-HK" sz="2400" dirty="0">
              <a:solidFill>
                <a:schemeClr val="accent1"/>
              </a:solidFill>
              <a:uFillTx/>
            </a:endParaRPr>
          </a:p>
        </p:txBody>
      </p:sp>
      <p:sp>
        <p:nvSpPr>
          <p:cNvPr id="3" name="內容佔位符 2"/>
          <p:cNvSpPr>
            <a:spLocks noGrp="1"/>
          </p:cNvSpPr>
          <p:nvPr>
            <p:ph idx="1"/>
          </p:nvPr>
        </p:nvSpPr>
        <p:spPr>
          <a:xfrm>
            <a:off x="418254" y="1183959"/>
            <a:ext cx="8596668" cy="3880773"/>
          </a:xfrm>
        </p:spPr>
        <p:txBody>
          <a:bodyPr>
            <a:noAutofit/>
          </a:bodyPr>
          <a:lstStyle/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DevOps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是理念，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SRE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是實踐。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DevOps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提倡「開發與運維合作」的文化，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SRE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則是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Google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把這個理念「工程化、制度化」的一種具體做法。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🔍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定義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DevOps	Development + Operations	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一種文化與流程理念，希望開發和運維協作、自動化、快速交付。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SRE	Site Reliability Engineering	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一個實作方法論與職位角色，以工程方式確保系統的可靠性、可用性。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594" y="149860"/>
            <a:ext cx="8596668" cy="1320800"/>
          </a:xfrm>
        </p:spPr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:DevOps</a:t>
            </a:r>
            <a:r>
              <a:rPr lang="zh-TW" altLang="en-US" dirty="0"/>
              <a:t>介紹</a:t>
            </a:r>
            <a:br>
              <a:rPr lang="zh-TW" altLang="en-US" dirty="0"/>
            </a:br>
            <a:r>
              <a:rPr lang="zh-TW" altLang="en-US" sz="2400" dirty="0">
                <a:solidFill>
                  <a:schemeClr val="accent1"/>
                </a:solidFill>
                <a:uFillTx/>
              </a:rPr>
              <a:t>四大領域</a:t>
            </a:r>
            <a:endParaRPr lang="zh-TW" altLang="en-US" sz="2400" dirty="0">
              <a:solidFill>
                <a:schemeClr val="accent1"/>
              </a:solidFill>
              <a:uFillTx/>
            </a:endParaRPr>
          </a:p>
        </p:txBody>
      </p:sp>
      <p:sp>
        <p:nvSpPr>
          <p:cNvPr id="3" name="內容佔位符 2"/>
          <p:cNvSpPr>
            <a:spLocks noGrp="1"/>
          </p:cNvSpPr>
          <p:nvPr>
            <p:ph idx="1"/>
          </p:nvPr>
        </p:nvSpPr>
        <p:spPr>
          <a:xfrm>
            <a:off x="418254" y="1183959"/>
            <a:ext cx="8596668" cy="3880773"/>
          </a:xfrm>
        </p:spPr>
        <p:txBody>
          <a:bodyPr>
            <a:noAutofit/>
          </a:bodyPr>
          <a:lstStyle/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DevOps </a:t>
            </a:r>
            <a:r>
              <a:rPr lang="zh-TW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主要領域有四個</a:t>
            </a:r>
            <a:endParaRPr lang="zh-TW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☁</a:t>
            </a:r>
            <a:r>
              <a:rPr lang="en-US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️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一、雲端（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Cloud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）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概念：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不再自己架伺服器，而是把系統部署在像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AWS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Azure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GCP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這樣的雲端平台。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你只要「租」運算資源，想要加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CPU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、記憶體、磁碟都可以幾分鐘搞定。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好處：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彈性擴充（人多時自動加機器）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不用維護硬體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適合自動化部署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代表技術：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AWS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GCP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Azure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Kubernetes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Docker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TW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這次雲端工程師養成班後面就會教到</a:t>
            </a:r>
            <a:r>
              <a:rPr lang="en-US" altLang="zh-TW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GCP</a:t>
            </a:r>
            <a:endParaRPr lang="en-US" altLang="zh-TW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594" y="149860"/>
            <a:ext cx="8596668" cy="1320800"/>
          </a:xfrm>
        </p:spPr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:DevOps</a:t>
            </a:r>
            <a:r>
              <a:rPr lang="zh-TW" altLang="en-US" dirty="0"/>
              <a:t>介紹</a:t>
            </a:r>
            <a:br>
              <a:rPr lang="zh-TW" altLang="en-US" dirty="0"/>
            </a:br>
            <a:r>
              <a:rPr lang="zh-TW" altLang="en-US" sz="2400" dirty="0">
                <a:solidFill>
                  <a:schemeClr val="accent1"/>
                </a:solidFill>
                <a:uFillTx/>
              </a:rPr>
              <a:t>四大領域</a:t>
            </a:r>
            <a:endParaRPr lang="zh-TW" altLang="en-US" sz="2400" dirty="0">
              <a:solidFill>
                <a:schemeClr val="accent1"/>
              </a:solidFill>
              <a:uFillTx/>
            </a:endParaRPr>
          </a:p>
        </p:txBody>
      </p:sp>
      <p:sp>
        <p:nvSpPr>
          <p:cNvPr id="3" name="內容佔位符 2"/>
          <p:cNvSpPr>
            <a:spLocks noGrp="1"/>
          </p:cNvSpPr>
          <p:nvPr>
            <p:ph idx="1"/>
          </p:nvPr>
        </p:nvSpPr>
        <p:spPr>
          <a:xfrm>
            <a:off x="418254" y="1183959"/>
            <a:ext cx="8596668" cy="3880773"/>
          </a:xfrm>
        </p:spPr>
        <p:txBody>
          <a:bodyPr>
            <a:noAutofit/>
          </a:bodyPr>
          <a:lstStyle/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🔄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二、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CI/CD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（持續整合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/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持續部署）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概念：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讓「程式寫完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</a:t>
            </a:r>
            <a:r>
              <a:rPr lang="en-US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→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自動測試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</a:t>
            </a:r>
            <a:r>
              <a:rPr lang="en-US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→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自動上線」整個過程全自動化。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不需要每次都手動上傳或重啟伺服器。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好處：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省時間、省人力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上線更穩定、可快速修正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bug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代表工具：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Jenkins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GitLab CI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GitHub Actions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Argo CD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TW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後面課程會簡單介紹</a:t>
            </a:r>
            <a:r>
              <a:rPr lang="en-US" altLang="zh-TW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Jenkins</a:t>
            </a:r>
            <a:r>
              <a:rPr lang="zh-TW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的使用方式</a:t>
            </a:r>
            <a:endParaRPr lang="zh-TW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594" y="149860"/>
            <a:ext cx="8596668" cy="1320800"/>
          </a:xfrm>
        </p:spPr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:DevOps</a:t>
            </a:r>
            <a:r>
              <a:rPr lang="zh-TW" altLang="en-US" dirty="0"/>
              <a:t>介紹</a:t>
            </a:r>
            <a:br>
              <a:rPr lang="zh-TW" altLang="en-US" dirty="0"/>
            </a:br>
            <a:r>
              <a:rPr lang="zh-TW" altLang="en-US" sz="2400" dirty="0">
                <a:solidFill>
                  <a:schemeClr val="accent1"/>
                </a:solidFill>
                <a:uFillTx/>
              </a:rPr>
              <a:t>四大領域</a:t>
            </a:r>
            <a:endParaRPr lang="zh-TW" altLang="en-US" sz="2400" dirty="0">
              <a:solidFill>
                <a:schemeClr val="accent1"/>
              </a:solidFill>
              <a:uFillTx/>
            </a:endParaRPr>
          </a:p>
        </p:txBody>
      </p:sp>
      <p:sp>
        <p:nvSpPr>
          <p:cNvPr id="3" name="內容佔位符 2"/>
          <p:cNvSpPr>
            <a:spLocks noGrp="1"/>
          </p:cNvSpPr>
          <p:nvPr>
            <p:ph idx="1"/>
          </p:nvPr>
        </p:nvSpPr>
        <p:spPr>
          <a:xfrm>
            <a:off x="418254" y="1183959"/>
            <a:ext cx="8596668" cy="3880773"/>
          </a:xfrm>
        </p:spPr>
        <p:txBody>
          <a:bodyPr>
            <a:noAutofit/>
          </a:bodyPr>
          <a:lstStyle/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📜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三、日誌（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Logging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）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概念：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系統在運行時會記錄發生的事情（例如使用者登入、錯誤、請求時間）。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這些紀錄就是「日誌」，幫助你追蹤問題、分析行為、偵錯。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好處：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出問題可快速找原因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可分析使用者行為、效能瓶頸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代表工具：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Elasticsearch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Logstash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Kibana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（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ELK Stack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）、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Filebeat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Fluentd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594" y="149860"/>
            <a:ext cx="8596668" cy="1320800"/>
          </a:xfrm>
        </p:spPr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:DevOps</a:t>
            </a:r>
            <a:r>
              <a:rPr lang="zh-TW" altLang="en-US" dirty="0"/>
              <a:t>介紹</a:t>
            </a:r>
            <a:br>
              <a:rPr lang="zh-TW" altLang="en-US" dirty="0"/>
            </a:br>
            <a:r>
              <a:rPr lang="zh-TW" altLang="en-US" sz="2400" dirty="0">
                <a:solidFill>
                  <a:schemeClr val="accent1"/>
                </a:solidFill>
                <a:uFillTx/>
              </a:rPr>
              <a:t>四大領域</a:t>
            </a:r>
            <a:endParaRPr lang="zh-TW" altLang="en-US" sz="2400" dirty="0">
              <a:solidFill>
                <a:schemeClr val="accent1"/>
              </a:solidFill>
              <a:uFillTx/>
            </a:endParaRPr>
          </a:p>
        </p:txBody>
      </p:sp>
      <p:sp>
        <p:nvSpPr>
          <p:cNvPr id="3" name="內容佔位符 2"/>
          <p:cNvSpPr>
            <a:spLocks noGrp="1"/>
          </p:cNvSpPr>
          <p:nvPr>
            <p:ph idx="1"/>
          </p:nvPr>
        </p:nvSpPr>
        <p:spPr>
          <a:xfrm>
            <a:off x="418254" y="1183959"/>
            <a:ext cx="8596668" cy="3880773"/>
          </a:xfrm>
        </p:spPr>
        <p:txBody>
          <a:bodyPr>
            <a:noAutofit/>
          </a:bodyPr>
          <a:lstStyle/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👀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四、監控（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Monitoring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）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概念：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即時觀察伺服器與系統的健康狀況，像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 CPU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、記憶體、流量、錯誤率等。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出問題能自動發警報。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好處：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提早發現異常（不用等使用者報錯）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可視化系統狀況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代表工具：</a:t>
            </a:r>
            <a:endParaRPr lang="zh-HK" altLang="en-US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Prometheus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Grafana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Zabbix</a:t>
            </a:r>
            <a:r>
              <a:rPr lang="zh-HK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、</a:t>
            </a:r>
            <a:r>
              <a:rPr lang="en-US" altLang="zh-HK" sz="15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Datadog</a:t>
            </a:r>
            <a:endParaRPr lang="en-US" altLang="zh-HK" sz="15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594" y="149860"/>
            <a:ext cx="8596668" cy="1320800"/>
          </a:xfrm>
        </p:spPr>
        <p:txBody>
          <a:bodyPr/>
          <a:lstStyle/>
          <a:p>
            <a:r>
              <a:rPr lang="zh-TW" altLang="en-US" dirty="0"/>
              <a:t>課程補充</a:t>
            </a:r>
            <a:r>
              <a:rPr lang="en-US" altLang="zh-TW" dirty="0"/>
              <a:t>:DevOps</a:t>
            </a:r>
            <a:r>
              <a:rPr lang="zh-TW" altLang="en-US" dirty="0"/>
              <a:t>介紹</a:t>
            </a:r>
            <a:br>
              <a:rPr lang="zh-TW" altLang="en-US" dirty="0"/>
            </a:br>
            <a:r>
              <a:rPr lang="zh-TW" altLang="en-US" sz="2400" dirty="0">
                <a:solidFill>
                  <a:schemeClr val="accent1"/>
                </a:solidFill>
                <a:uFillTx/>
              </a:rPr>
              <a:t>四大領域</a:t>
            </a:r>
            <a:endParaRPr lang="zh-TW" altLang="en-US" sz="2400" dirty="0">
              <a:solidFill>
                <a:schemeClr val="accent1"/>
              </a:solidFill>
              <a:uFillTx/>
            </a:endParaRPr>
          </a:p>
        </p:txBody>
      </p:sp>
      <p:sp>
        <p:nvSpPr>
          <p:cNvPr id="3" name="內容佔位符 2"/>
          <p:cNvSpPr>
            <a:spLocks noGrp="1"/>
          </p:cNvSpPr>
          <p:nvPr>
            <p:ph idx="1"/>
          </p:nvPr>
        </p:nvSpPr>
        <p:spPr>
          <a:xfrm>
            <a:off x="418254" y="1183959"/>
            <a:ext cx="8596668" cy="3880773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DevOps</a:t>
            </a:r>
            <a:r>
              <a:rPr lang="zh-TW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的出發點就是以更快速解決客戶問題</a:t>
            </a:r>
            <a:endParaRPr lang="zh-TW" altLang="en-US" sz="32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  <a:p>
            <a:r>
              <a:rPr lang="zh-TW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sym typeface="+mn-ea"/>
              </a:rPr>
              <a:t>目的就是合作，自動化</a:t>
            </a:r>
            <a:endParaRPr lang="zh-TW" altLang="en-US" sz="3200" dirty="0">
              <a:solidFill>
                <a:schemeClr val="tx1">
                  <a:lumMod val="75000"/>
                  <a:lumOff val="25000"/>
                </a:schemeClr>
              </a:solidFill>
              <a:uFillTx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9286</Words>
  <Application>WPS Presentation</Application>
  <PresentationFormat>寬螢幕</PresentationFormat>
  <Paragraphs>520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5" baseType="lpstr">
      <vt:lpstr>Arial</vt:lpstr>
      <vt:lpstr>SimSun</vt:lpstr>
      <vt:lpstr>Wingdings</vt:lpstr>
      <vt:lpstr>Wingdings 3</vt:lpstr>
      <vt:lpstr>Arial</vt:lpstr>
      <vt:lpstr>源泉圓體 B</vt:lpstr>
      <vt:lpstr>Microsoft JhengHei UI</vt:lpstr>
      <vt:lpstr>Trebuchet MS</vt:lpstr>
      <vt:lpstr>Microsoft YaHei</vt:lpstr>
      <vt:lpstr>Arial Unicode MS</vt:lpstr>
      <vt:lpstr>Microsoft JhengHei</vt:lpstr>
      <vt:lpstr>Calibri</vt:lpstr>
      <vt:lpstr>PMingLiU</vt:lpstr>
      <vt:lpstr>多面向</vt:lpstr>
      <vt:lpstr>單元3.Dockerfile 解析</vt:lpstr>
      <vt:lpstr>目錄:</vt:lpstr>
      <vt:lpstr> 課程導入</vt:lpstr>
      <vt:lpstr> Dockerfile 全面解析(1)</vt:lpstr>
      <vt:lpstr>Dockerfile 全面解析(2)  建立文件</vt:lpstr>
      <vt:lpstr>Dockerfile 全面解析(2) Dockerfile 指令概述</vt:lpstr>
      <vt:lpstr>Dockerfile 全面解析(3) Dockerfile 中的 FROM 指令</vt:lpstr>
      <vt:lpstr>Dockerfile 全面解析(4) WORKDIR 指令的使用</vt:lpstr>
      <vt:lpstr>Dockerfile 全面解析(5) RUN 指令的功能</vt:lpstr>
      <vt:lpstr>Dockerfile 全面解析(6) COPY 和 ADD 指令的比較</vt:lpstr>
      <vt:lpstr>Dockerfile 全面解析(7) CMD 指令的設定</vt:lpstr>
      <vt:lpstr>Dockerfile 全面解析(8) 開店企劃書</vt:lpstr>
      <vt:lpstr>Dockerfile 全面解析(9) 特殊指令</vt:lpstr>
      <vt:lpstr>docker build 指令運用(1)</vt:lpstr>
      <vt:lpstr>docker build 指令運用(2)</vt:lpstr>
      <vt:lpstr> docker login 指令運用 </vt:lpstr>
      <vt:lpstr> docker login 指令運用(2) </vt:lpstr>
      <vt:lpstr> docker push指令運用</vt:lpstr>
      <vt:lpstr> docker exec 指令的運用(1)</vt:lpstr>
      <vt:lpstr> docker exec 指令的運用(2)</vt:lpstr>
      <vt:lpstr> docker exec 指令的運用(3)</vt:lpstr>
      <vt:lpstr> docker exec 指令的運用(4)</vt:lpstr>
      <vt:lpstr>休息一下</vt:lpstr>
      <vt:lpstr>自製 Python Web 容器與 MySQL容器關聯</vt:lpstr>
      <vt:lpstr>自製 Python Web 容器與 MySQL容器關聯(2)</vt:lpstr>
      <vt:lpstr>自製 Python Web 容器與 MySQL容器關聯(3)</vt:lpstr>
      <vt:lpstr>自製 Python Web 容器與 MySQL容器關聯(4)</vt:lpstr>
      <vt:lpstr>自製 Python Web 容器與 MySQL容器關聯(5)</vt:lpstr>
      <vt:lpstr>自製 Python Web 容器與 MySQL容器關聯(6)</vt:lpstr>
      <vt:lpstr>休息一下 </vt:lpstr>
      <vt:lpstr> Docker 網路的建立與管理  docker --net</vt:lpstr>
      <vt:lpstr>Docker 網路的建立與管理(2) docker --net</vt:lpstr>
      <vt:lpstr>Docker 網路的建立與管理(3) docker --link 不推薦使用</vt:lpstr>
      <vt:lpstr>Docker run --rm</vt:lpstr>
      <vt:lpstr>Docker run –-rm指令運用</vt:lpstr>
      <vt:lpstr>Docker run --rm指令運用</vt:lpstr>
      <vt:lpstr>實務練習</vt:lpstr>
      <vt:lpstr> 綜合應用範例</vt:lpstr>
      <vt:lpstr>下載位置</vt:lpstr>
      <vt:lpstr>課程補充:volume詳解</vt:lpstr>
      <vt:lpstr>課程補充:volume詳解</vt:lpstr>
      <vt:lpstr>課程補充:volume詳解</vt:lpstr>
      <vt:lpstr>課程補充:volume詳解</vt:lpstr>
      <vt:lpstr>課程補充:volume詳解</vt:lpstr>
      <vt:lpstr>課程補充:DevOps介紹</vt:lpstr>
      <vt:lpstr>課程補充:DevOps介紹 DevOps vs SRE</vt:lpstr>
      <vt:lpstr>課程補充:DevOps介紹 四大領域</vt:lpstr>
      <vt:lpstr>課程補充:DevOps介紹 四大領域</vt:lpstr>
      <vt:lpstr>課程補充:DevOps介紹 四大領域</vt:lpstr>
      <vt:lpstr>課程補充:DevOps介紹 四大領域</vt:lpstr>
      <vt:lpstr>課程補充:DevOps介紹 四大領域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單元3.Dockerfile 解析</dc:title>
  <dc:creator>rnfh017</dc:creator>
  <cp:lastModifiedBy>蛋頭</cp:lastModifiedBy>
  <cp:revision>54</cp:revision>
  <dcterms:created xsi:type="dcterms:W3CDTF">2025-05-13T02:30:00Z</dcterms:created>
  <dcterms:modified xsi:type="dcterms:W3CDTF">2025-11-23T00:43:22Z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3076-12.9.0.21549</vt:lpwstr>
  </property>
  <property fmtid="{D5CDD505-2E9C-101B-9397-08002B2CF9AE}" pid="3" name="ICV">
    <vt:lpwstr>84BA0C48D96D475B82F1E5AEFD9B0169_12</vt:lpwstr>
  </property>
</Properties>
</file>